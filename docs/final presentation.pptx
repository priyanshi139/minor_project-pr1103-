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7" r:id="rId3"/>
    <p:sldId id="258" r:id="rId4"/>
    <p:sldId id="257" r:id="rId5"/>
    <p:sldId id="259" r:id="rId6"/>
    <p:sldId id="260" r:id="rId7"/>
    <p:sldId id="261" r:id="rId8"/>
    <p:sldId id="262"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1" d="100"/>
          <a:sy n="121" d="100"/>
        </p:scale>
        <p:origin x="72"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4818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20"/>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A5D6A7"/>
          </a:solidFill>
          <a:ln w="12700">
            <a:solidFill>
              <a:srgbClr val="A5D6A7"/>
            </a:solidFill>
            <a:prstDash val="solid"/>
          </a:ln>
        </p:spPr>
      </p:sp>
      <p:sp>
        <p:nvSpPr>
          <p:cNvPr id="4" name="Text 2"/>
          <p:cNvSpPr/>
          <p:nvPr/>
        </p:nvSpPr>
        <p:spPr>
          <a:xfrm>
            <a:off x="228600" y="960120"/>
            <a:ext cx="8412480" cy="685800"/>
          </a:xfrm>
          <a:prstGeom prst="rect">
            <a:avLst/>
          </a:prstGeom>
          <a:noFill/>
          <a:ln/>
        </p:spPr>
        <p:txBody>
          <a:bodyPr wrap="square" rtlCol="0" anchor="ctr"/>
          <a:lstStyle/>
          <a:p>
            <a:pPr marL="0" indent="0">
              <a:buNone/>
            </a:pPr>
            <a:r>
              <a:rPr lang="en-US" sz="3000" b="1" dirty="0">
                <a:solidFill>
                  <a:srgbClr val="FFFFFF"/>
                </a:solidFill>
              </a:rPr>
              <a:t>    Health Risk Analysis using Machine Learning and</a:t>
            </a:r>
            <a:endParaRPr lang="en-US" sz="3000" dirty="0"/>
          </a:p>
        </p:txBody>
      </p:sp>
      <p:sp>
        <p:nvSpPr>
          <p:cNvPr id="5" name="Text 3"/>
          <p:cNvSpPr/>
          <p:nvPr/>
        </p:nvSpPr>
        <p:spPr>
          <a:xfrm>
            <a:off x="228600" y="1627632"/>
            <a:ext cx="7733714" cy="594360"/>
          </a:xfrm>
          <a:prstGeom prst="rect">
            <a:avLst/>
          </a:prstGeom>
          <a:noFill/>
          <a:ln/>
        </p:spPr>
        <p:txBody>
          <a:bodyPr wrap="square" rtlCol="0" anchor="ctr"/>
          <a:lstStyle/>
          <a:p>
            <a:pPr marL="0" indent="0">
              <a:buNone/>
            </a:pPr>
            <a:r>
              <a:rPr lang="en-US" sz="3000" b="1" dirty="0">
                <a:solidFill>
                  <a:srgbClr val="FFFFFF"/>
                </a:solidFill>
              </a:rPr>
              <a:t>                          Environmental Data</a:t>
            </a:r>
            <a:endParaRPr lang="en-US" sz="3000" dirty="0"/>
          </a:p>
        </p:txBody>
      </p:sp>
      <p:sp>
        <p:nvSpPr>
          <p:cNvPr id="8" name="Text 6"/>
          <p:cNvSpPr/>
          <p:nvPr/>
        </p:nvSpPr>
        <p:spPr>
          <a:xfrm>
            <a:off x="337625" y="2944368"/>
            <a:ext cx="8120574" cy="256032"/>
          </a:xfrm>
          <a:prstGeom prst="rect">
            <a:avLst/>
          </a:prstGeom>
          <a:noFill/>
          <a:ln/>
        </p:spPr>
        <p:txBody>
          <a:bodyPr wrap="square" rtlCol="0" anchor="ctr"/>
          <a:lstStyle/>
          <a:p>
            <a:pPr marL="0" indent="0">
              <a:buNone/>
            </a:pPr>
            <a:r>
              <a:rPr lang="en-US" sz="1000" dirty="0">
                <a:solidFill>
                  <a:srgbClr val="A5D6A7"/>
                </a:solidFill>
              </a:rPr>
              <a:t>Presented By:</a:t>
            </a:r>
            <a:endParaRPr lang="en-US" sz="1000" dirty="0"/>
          </a:p>
        </p:txBody>
      </p:sp>
      <p:sp>
        <p:nvSpPr>
          <p:cNvPr id="9" name="Text 7"/>
          <p:cNvSpPr/>
          <p:nvPr/>
        </p:nvSpPr>
        <p:spPr>
          <a:xfrm>
            <a:off x="228600" y="3310128"/>
            <a:ext cx="8229600" cy="256032"/>
          </a:xfrm>
          <a:prstGeom prst="rect">
            <a:avLst/>
          </a:prstGeom>
          <a:noFill/>
          <a:ln/>
        </p:spPr>
        <p:txBody>
          <a:bodyPr wrap="square" rtlCol="0" anchor="ctr"/>
          <a:lstStyle/>
          <a:p>
            <a:pPr marL="0" indent="0">
              <a:buNone/>
            </a:pPr>
            <a:r>
              <a:rPr lang="en-US" sz="1500" b="1" dirty="0">
                <a:solidFill>
                  <a:srgbClr val="FFFFFF"/>
                </a:solidFill>
              </a:rPr>
              <a:t>Priyanshi Mehta  |  Roll No: 2023Btech061</a:t>
            </a:r>
            <a:endParaRPr lang="en-US" sz="1500" dirty="0"/>
          </a:p>
        </p:txBody>
      </p:sp>
      <p:sp>
        <p:nvSpPr>
          <p:cNvPr id="10" name="Text 8"/>
          <p:cNvSpPr/>
          <p:nvPr/>
        </p:nvSpPr>
        <p:spPr>
          <a:xfrm>
            <a:off x="228600" y="3630168"/>
            <a:ext cx="8229600" cy="274320"/>
          </a:xfrm>
          <a:prstGeom prst="rect">
            <a:avLst/>
          </a:prstGeom>
          <a:noFill/>
          <a:ln/>
        </p:spPr>
        <p:txBody>
          <a:bodyPr wrap="square" rtlCol="0" anchor="ctr"/>
          <a:lstStyle/>
          <a:p>
            <a:pPr marL="0" indent="0">
              <a:buNone/>
            </a:pPr>
            <a:r>
              <a:rPr lang="en-US" sz="1100" dirty="0">
                <a:solidFill>
                  <a:srgbClr val="A5D6A7"/>
                </a:solidFill>
              </a:rPr>
              <a:t>Supervisor: Dr. Amit Sinhal</a:t>
            </a:r>
            <a:endParaRPr lang="en-US" sz="1100" dirty="0"/>
          </a:p>
        </p:txBody>
      </p:sp>
      <p:sp>
        <p:nvSpPr>
          <p:cNvPr id="11" name="Text 9"/>
          <p:cNvSpPr/>
          <p:nvPr/>
        </p:nvSpPr>
        <p:spPr>
          <a:xfrm>
            <a:off x="228600" y="3904488"/>
            <a:ext cx="8229600" cy="256032"/>
          </a:xfrm>
          <a:prstGeom prst="rect">
            <a:avLst/>
          </a:prstGeom>
          <a:noFill/>
          <a:ln/>
        </p:spPr>
        <p:txBody>
          <a:bodyPr wrap="square" rtlCol="0" anchor="ctr"/>
          <a:lstStyle/>
          <a:p>
            <a:pPr marL="0" indent="0">
              <a:buNone/>
            </a:pPr>
            <a:r>
              <a:rPr lang="en-US" sz="1000" dirty="0">
                <a:solidFill>
                  <a:srgbClr val="A5D6A7"/>
                </a:solidFill>
              </a:rPr>
              <a:t>Department of Computer Science &amp; Engineering</a:t>
            </a:r>
            <a:endParaRPr lang="en-US" sz="1000" dirty="0"/>
          </a:p>
        </p:txBody>
      </p:sp>
      <p:sp>
        <p:nvSpPr>
          <p:cNvPr id="12" name="Text 10"/>
          <p:cNvSpPr/>
          <p:nvPr/>
        </p:nvSpPr>
        <p:spPr>
          <a:xfrm>
            <a:off x="228600" y="4288536"/>
            <a:ext cx="8229600" cy="256032"/>
          </a:xfrm>
          <a:prstGeom prst="rect">
            <a:avLst/>
          </a:prstGeom>
          <a:noFill/>
          <a:ln/>
        </p:spPr>
        <p:txBody>
          <a:bodyPr wrap="square" rtlCol="0" anchor="ctr"/>
          <a:lstStyle/>
          <a:p>
            <a:pPr marL="0" indent="0">
              <a:buNone/>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Introduction">
    <p:bg>
      <p:bgPr>
        <a:solidFill>
          <a:srgbClr val="FFFFFF"/>
        </a:solidFill>
        <a:effectLst/>
      </p:bgPr>
    </p:bg>
    <p:spTree>
      <p:nvGrpSpPr>
        <p:cNvPr id="1" name=""/>
        <p:cNvGrpSpPr/>
        <p:nvPr/>
      </p:nvGrpSpPr>
      <p:grpSpPr>
        <a:xfrm>
          <a:off x="0" y="0"/>
          <a:ext cx="0" cy="0"/>
          <a:chOff x="0" y="0"/>
          <a:chExt cx="0" cy="0"/>
        </a:xfrm>
      </p:grpSpPr>
      <p:sp>
        <p:nvSpPr>
          <p:cNvPr id="2" name="HeaderBar"/>
          <p:cNvSpPr/>
          <p:nvPr/>
        </p:nvSpPr>
        <p:spPr>
          <a:xfrm>
            <a:off x="0" y="0"/>
            <a:ext cx="9144000" cy="480060"/>
          </a:xfrm>
          <a:prstGeom prst="rect">
            <a:avLst/>
          </a:prstGeom>
          <a:solidFill>
            <a:srgbClr val="1B5E20"/>
          </a:solidFill>
          <a:ln>
            <a:noFill/>
          </a:ln>
        </p:spPr>
      </p:sp>
      <p:sp>
        <p:nvSpPr>
          <p:cNvPr id="3" name="HeaderLabel"/>
          <p:cNvSpPr/>
          <p:nvPr/>
        </p:nvSpPr>
        <p:spPr>
          <a:xfrm>
            <a:off x="228600" y="60000"/>
            <a:ext cx="8686800" cy="360060"/>
          </a:xfrm>
          <a:prstGeom prst="rect">
            <a:avLst/>
          </a:prstGeom>
          <a:noFill/>
          <a:ln>
            <a:noFill/>
          </a:ln>
        </p:spPr>
        <p:txBody>
          <a:bodyPr wrap="square" rtlCol="0" anchor="ctr"/>
          <a:lstStyle/>
          <a:p>
            <a:pPr marL="0" indent="0">
              <a:buNone/>
            </a:pPr>
            <a:r>
              <a:rPr lang="en-US" sz="1000" b="1" spc="300" dirty="0">
                <a:solidFill>
                  <a:srgbClr val="FFFFFF"/>
                </a:solidFill>
              </a:rPr>
              <a:t>I N T R O D U C T I O N</a:t>
            </a:r>
          </a:p>
        </p:txBody>
      </p:sp>
      <p:sp>
        <p:nvSpPr>
          <p:cNvPr id="4" name="SlideTitle"/>
          <p:cNvSpPr/>
          <p:nvPr/>
        </p:nvSpPr>
        <p:spPr>
          <a:xfrm>
            <a:off x="228600" y="530000"/>
            <a:ext cx="8686800" cy="380000"/>
          </a:xfrm>
          <a:prstGeom prst="rect">
            <a:avLst/>
          </a:prstGeom>
          <a:noFill/>
          <a:ln>
            <a:noFill/>
          </a:ln>
        </p:spPr>
        <p:txBody>
          <a:bodyPr wrap="square" rtlCol="0" anchor="ctr"/>
          <a:lstStyle/>
          <a:p>
            <a:pPr marL="0" indent="0">
              <a:buNone/>
            </a:pPr>
            <a:r>
              <a:rPr lang="en-US" sz="2400" b="1" dirty="0">
                <a:solidFill>
                  <a:srgbClr val="1B5E20"/>
                </a:solidFill>
              </a:rPr>
              <a:t>Why This Project?</a:t>
            </a:r>
          </a:p>
        </p:txBody>
      </p:sp>
      <p:sp>
        <p:nvSpPr>
          <p:cNvPr id="5" name="AccentBar"/>
          <p:cNvSpPr/>
          <p:nvPr/>
        </p:nvSpPr>
        <p:spPr>
          <a:xfrm>
            <a:off x="228600" y="960000"/>
            <a:ext cx="55000" cy="3620000"/>
          </a:xfrm>
          <a:prstGeom prst="rect">
            <a:avLst/>
          </a:prstGeom>
          <a:solidFill>
            <a:srgbClr val="2E7D32"/>
          </a:solidFill>
          <a:ln>
            <a:noFill/>
          </a:ln>
        </p:spPr>
      </p:sp>
      <p:sp>
        <p:nvSpPr>
          <p:cNvPr id="6" name="S1Header"/>
          <p:cNvSpPr/>
          <p:nvPr/>
        </p:nvSpPr>
        <p:spPr>
          <a:xfrm>
            <a:off x="380000" y="960000"/>
            <a:ext cx="8535000" cy="270000"/>
          </a:xfrm>
          <a:prstGeom prst="rect">
            <a:avLst/>
          </a:prstGeom>
          <a:noFill/>
          <a:ln>
            <a:noFill/>
          </a:ln>
        </p:spPr>
        <p:txBody>
          <a:bodyPr wrap="square" rtlCol="0" anchor="ctr"/>
          <a:lstStyle/>
          <a:p>
            <a:pPr marL="0" indent="0">
              <a:buNone/>
            </a:pPr>
            <a:r>
              <a:rPr lang="en-US" sz="1400" b="1" dirty="0">
                <a:solidFill>
                  <a:srgbClr val="1B5E20"/>
                </a:solidFill>
              </a:rPr>
              <a:t>The Problem</a:t>
            </a:r>
          </a:p>
        </p:txBody>
      </p:sp>
      <p:sp>
        <p:nvSpPr>
          <p:cNvPr id="7" name="S1Text"/>
          <p:cNvSpPr/>
          <p:nvPr/>
        </p:nvSpPr>
        <p:spPr>
          <a:xfrm>
            <a:off x="380000" y="1220000"/>
            <a:ext cx="8535000" cy="500000"/>
          </a:xfrm>
          <a:prstGeom prst="rect">
            <a:avLst/>
          </a:prstGeom>
          <a:noFill/>
          <a:ln>
            <a:noFill/>
          </a:ln>
        </p:spPr>
        <p:txBody>
          <a:bodyPr wrap="square" rtlCol="0" anchor="t"/>
          <a:lstStyle/>
          <a:p>
            <a:pPr marL="0" indent="0">
              <a:buNone/>
            </a:pPr>
            <a:r>
              <a:rPr lang="en-US" sz="1100" dirty="0">
                <a:solidFill>
                  <a:srgbClr val="444444"/>
                </a:solidFill>
              </a:rPr>
              <a:t>Air pollution is one of India's biggest public health challenges. Cities like Delhi, Patna, and Gurugram regularly cross dangerous AQI levels. Millions of people face serious respiratory and cardiovascular risks every day due to industrial emissions, vehicle exhaust, and seasonal crop burning.</a:t>
            </a:r>
          </a:p>
        </p:txBody>
      </p:sp>
      <p:sp>
        <p:nvSpPr>
          <p:cNvPr id="8" name="S2Header"/>
          <p:cNvSpPr/>
          <p:nvPr/>
        </p:nvSpPr>
        <p:spPr>
          <a:xfrm>
            <a:off x="380000" y="1820000"/>
            <a:ext cx="8535000" cy="270000"/>
          </a:xfrm>
          <a:prstGeom prst="rect">
            <a:avLst/>
          </a:prstGeom>
          <a:noFill/>
          <a:ln>
            <a:noFill/>
          </a:ln>
        </p:spPr>
        <p:txBody>
          <a:bodyPr wrap="square" rtlCol="0" anchor="ctr"/>
          <a:lstStyle/>
          <a:p>
            <a:pPr marL="0" indent="0">
              <a:buNone/>
            </a:pPr>
            <a:r>
              <a:rPr lang="en-US" sz="1400" b="1" dirty="0">
                <a:solidFill>
                  <a:srgbClr val="1B5E20"/>
                </a:solidFill>
              </a:rPr>
              <a:t>The Gap</a:t>
            </a:r>
          </a:p>
        </p:txBody>
      </p:sp>
      <p:sp>
        <p:nvSpPr>
          <p:cNvPr id="9" name="S2Text"/>
          <p:cNvSpPr/>
          <p:nvPr/>
        </p:nvSpPr>
        <p:spPr>
          <a:xfrm>
            <a:off x="380000" y="2080000"/>
            <a:ext cx="8535000" cy="440000"/>
          </a:xfrm>
          <a:prstGeom prst="rect">
            <a:avLst/>
          </a:prstGeom>
          <a:noFill/>
          <a:ln>
            <a:noFill/>
          </a:ln>
        </p:spPr>
        <p:txBody>
          <a:bodyPr wrap="square" rtlCol="0" anchor="t"/>
          <a:lstStyle/>
          <a:p>
            <a:pPr marL="0" indent="0">
              <a:buNone/>
            </a:pPr>
            <a:r>
              <a:rPr lang="en-US" sz="1100" dirty="0">
                <a:solidFill>
                  <a:srgbClr val="444444"/>
                </a:solidFill>
              </a:rPr>
              <a:t>CPCB monitors and publishes AQI data - but it is just raw numbers. It is not interactive, not easy to understand, and gives no health guidance. </a:t>
            </a:r>
          </a:p>
        </p:txBody>
      </p:sp>
      <p:sp>
        <p:nvSpPr>
          <p:cNvPr id="10" name="S3Header"/>
          <p:cNvSpPr/>
          <p:nvPr/>
        </p:nvSpPr>
        <p:spPr>
          <a:xfrm>
            <a:off x="380000" y="2620000"/>
            <a:ext cx="8535000" cy="270000"/>
          </a:xfrm>
          <a:prstGeom prst="rect">
            <a:avLst/>
          </a:prstGeom>
          <a:noFill/>
          <a:ln>
            <a:noFill/>
          </a:ln>
        </p:spPr>
        <p:txBody>
          <a:bodyPr wrap="square" rtlCol="0" anchor="ctr"/>
          <a:lstStyle/>
          <a:p>
            <a:pPr marL="0" indent="0">
              <a:buNone/>
            </a:pPr>
            <a:r>
              <a:rPr lang="en-US" sz="1400" b="1" dirty="0">
                <a:solidFill>
                  <a:srgbClr val="1B5E20"/>
                </a:solidFill>
              </a:rPr>
              <a:t>Our Solution</a:t>
            </a:r>
          </a:p>
        </p:txBody>
      </p:sp>
      <p:sp>
        <p:nvSpPr>
          <p:cNvPr id="11" name="S3Text"/>
          <p:cNvSpPr/>
          <p:nvPr/>
        </p:nvSpPr>
        <p:spPr>
          <a:xfrm>
            <a:off x="380000" y="2880000"/>
            <a:ext cx="8535000" cy="520000"/>
          </a:xfrm>
          <a:prstGeom prst="rect">
            <a:avLst/>
          </a:prstGeom>
          <a:noFill/>
          <a:ln>
            <a:noFill/>
          </a:ln>
        </p:spPr>
        <p:txBody>
          <a:bodyPr wrap="square" rtlCol="0" anchor="t"/>
          <a:lstStyle/>
          <a:p>
            <a:pPr marL="0" indent="0">
              <a:buNone/>
            </a:pPr>
            <a:r>
              <a:rPr lang="en-US" sz="1100" dirty="0">
                <a:solidFill>
                  <a:srgbClr val="444444"/>
                </a:solidFill>
              </a:rPr>
              <a:t>We developed an AI-based Air Quality and Health Risk Monitoring Dashboard that transforms complex environmental data into simple visual insights - combining data visualization and machine learning to improve pollution awareness and support better decision-making for public health.</a:t>
            </a:r>
          </a:p>
        </p:txBody>
      </p:sp>
      <p:sp>
        <p:nvSpPr>
          <p:cNvPr id="12" name="BottomBar"/>
          <p:cNvSpPr/>
          <p:nvPr/>
        </p:nvSpPr>
        <p:spPr>
          <a:xfrm>
            <a:off x="0" y="4663500"/>
            <a:ext cx="9144000" cy="480000"/>
          </a:xfrm>
          <a:prstGeom prst="rect">
            <a:avLst/>
          </a:prstGeom>
          <a:solidFill>
            <a:srgbClr val="1B5E20"/>
          </a:solidFill>
          <a:ln>
            <a:noFill/>
          </a:ln>
        </p:spPr>
      </p:sp>
      <p:sp>
        <p:nvSpPr>
          <p:cNvPr id="13" name="BottomText"/>
          <p:cNvSpPr/>
          <p:nvPr/>
        </p:nvSpPr>
        <p:spPr>
          <a:xfrm>
            <a:off x="228600" y="4663500"/>
            <a:ext cx="8686800" cy="480000"/>
          </a:xfrm>
          <a:prstGeom prst="rect">
            <a:avLst/>
          </a:prstGeom>
          <a:noFill/>
          <a:ln>
            <a:noFill/>
          </a:ln>
        </p:spPr>
        <p:txBody>
          <a:bodyPr wrap="square" rtlCol="0" anchor="ctr"/>
          <a:lstStyle/>
          <a:p>
            <a:pPr marL="0" indent="0" algn="ctr">
              <a:buNone/>
            </a:pPr>
            <a:r>
              <a:rPr lang="en-US" sz="1000" b="1" dirty="0">
                <a:solidFill>
                  <a:srgbClr val="A5D6A7"/>
                </a:solidFill>
              </a:rPr>
              <a:t>Helps:  </a:t>
            </a:r>
            <a:r>
              <a:rPr lang="en-US" sz="1000" dirty="0">
                <a:solidFill>
                  <a:srgbClr val="FFFFFF"/>
                </a:solidFill>
              </a:rPr>
              <a:t>Government Authorities  |  Doctors &amp; Healthcare Workers  |  Citizens &amp; Travellers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5E20"/>
          </a:solidFill>
          <a:ln w="12700">
            <a:solidFill>
              <a:srgbClr val="1B5E20"/>
            </a:solidFill>
            <a:prstDash val="solid"/>
          </a:ln>
        </p:spPr>
      </p:sp>
      <p:sp>
        <p:nvSpPr>
          <p:cNvPr id="3" name="Text 1"/>
          <p:cNvSpPr/>
          <p:nvPr/>
        </p:nvSpPr>
        <p:spPr>
          <a:xfrm>
            <a:off x="320040" y="0"/>
            <a:ext cx="8503920" cy="502920"/>
          </a:xfrm>
          <a:prstGeom prst="rect">
            <a:avLst/>
          </a:prstGeom>
          <a:noFill/>
          <a:ln/>
        </p:spPr>
        <p:txBody>
          <a:bodyPr wrap="square" rtlCol="0" anchor="ctr"/>
          <a:lstStyle/>
          <a:p>
            <a:pPr marL="0" indent="0">
              <a:buNone/>
            </a:pPr>
            <a:r>
              <a:rPr lang="en-US" sz="1000" b="1" kern="0" spc="300" dirty="0">
                <a:solidFill>
                  <a:srgbClr val="FFFFFF"/>
                </a:solidFill>
              </a:rPr>
              <a:t>LITERATURE REVIEW</a:t>
            </a:r>
            <a:endParaRPr lang="en-US" sz="1000" dirty="0"/>
          </a:p>
        </p:txBody>
      </p:sp>
      <p:sp>
        <p:nvSpPr>
          <p:cNvPr id="4" name="Text 2"/>
          <p:cNvSpPr/>
          <p:nvPr/>
        </p:nvSpPr>
        <p:spPr>
          <a:xfrm>
            <a:off x="320040" y="594360"/>
            <a:ext cx="8503920" cy="384048"/>
          </a:xfrm>
          <a:prstGeom prst="rect">
            <a:avLst/>
          </a:prstGeom>
          <a:noFill/>
          <a:ln/>
        </p:spPr>
        <p:txBody>
          <a:bodyPr wrap="square" rtlCol="0" anchor="ctr"/>
          <a:lstStyle/>
          <a:p>
            <a:pPr marL="0" indent="0">
              <a:buNone/>
            </a:pPr>
            <a:r>
              <a:rPr lang="en-US" sz="2000" b="1" dirty="0">
                <a:solidFill>
                  <a:srgbClr val="1C1C1C"/>
                </a:solidFill>
              </a:rPr>
              <a:t> Research Papers</a:t>
            </a:r>
            <a:endParaRPr lang="en-US" sz="2000" dirty="0"/>
          </a:p>
        </p:txBody>
      </p:sp>
      <p:sp>
        <p:nvSpPr>
          <p:cNvPr id="5" name="Shape 3"/>
          <p:cNvSpPr/>
          <p:nvPr/>
        </p:nvSpPr>
        <p:spPr>
          <a:xfrm>
            <a:off x="274320" y="1078992"/>
            <a:ext cx="2011680" cy="347472"/>
          </a:xfrm>
          <a:prstGeom prst="rect">
            <a:avLst/>
          </a:prstGeom>
          <a:solidFill>
            <a:srgbClr val="2E7D32"/>
          </a:solidFill>
          <a:ln w="12700">
            <a:solidFill>
              <a:srgbClr val="2E7D32"/>
            </a:solidFill>
            <a:prstDash val="solid"/>
          </a:ln>
        </p:spPr>
      </p:sp>
      <p:sp>
        <p:nvSpPr>
          <p:cNvPr id="6" name="Text 4"/>
          <p:cNvSpPr/>
          <p:nvPr/>
        </p:nvSpPr>
        <p:spPr>
          <a:xfrm>
            <a:off x="347472" y="1078992"/>
            <a:ext cx="1920240" cy="347472"/>
          </a:xfrm>
          <a:prstGeom prst="rect">
            <a:avLst/>
          </a:prstGeom>
          <a:noFill/>
          <a:ln/>
        </p:spPr>
        <p:txBody>
          <a:bodyPr wrap="square" rtlCol="0" anchor="ctr"/>
          <a:lstStyle/>
          <a:p>
            <a:pPr marL="0" indent="0">
              <a:buNone/>
            </a:pPr>
            <a:r>
              <a:rPr lang="en-US" sz="1050" b="1" dirty="0">
                <a:solidFill>
                  <a:srgbClr val="FFFFFF"/>
                </a:solidFill>
              </a:rPr>
              <a:t>Reference</a:t>
            </a:r>
            <a:endParaRPr lang="en-US" sz="1050" dirty="0"/>
          </a:p>
        </p:txBody>
      </p:sp>
      <p:sp>
        <p:nvSpPr>
          <p:cNvPr id="7" name="Shape 5"/>
          <p:cNvSpPr/>
          <p:nvPr/>
        </p:nvSpPr>
        <p:spPr>
          <a:xfrm>
            <a:off x="2331720" y="1078992"/>
            <a:ext cx="2834640" cy="347472"/>
          </a:xfrm>
          <a:prstGeom prst="rect">
            <a:avLst/>
          </a:prstGeom>
          <a:solidFill>
            <a:srgbClr val="2E7D32"/>
          </a:solidFill>
          <a:ln w="12700">
            <a:solidFill>
              <a:srgbClr val="2E7D32"/>
            </a:solidFill>
            <a:prstDash val="solid"/>
          </a:ln>
        </p:spPr>
      </p:sp>
      <p:sp>
        <p:nvSpPr>
          <p:cNvPr id="8" name="Text 6"/>
          <p:cNvSpPr/>
          <p:nvPr/>
        </p:nvSpPr>
        <p:spPr>
          <a:xfrm>
            <a:off x="2404872" y="1078992"/>
            <a:ext cx="2743200" cy="347472"/>
          </a:xfrm>
          <a:prstGeom prst="rect">
            <a:avLst/>
          </a:prstGeom>
          <a:noFill/>
          <a:ln/>
        </p:spPr>
        <p:txBody>
          <a:bodyPr wrap="square" rtlCol="0" anchor="ctr"/>
          <a:lstStyle/>
          <a:p>
            <a:pPr marL="0" indent="0">
              <a:buNone/>
            </a:pPr>
            <a:r>
              <a:rPr lang="en-US" sz="1050" b="1" dirty="0">
                <a:solidFill>
                  <a:srgbClr val="FFFFFF"/>
                </a:solidFill>
              </a:rPr>
              <a:t>Methodology</a:t>
            </a:r>
            <a:endParaRPr lang="en-US" sz="1050" dirty="0"/>
          </a:p>
        </p:txBody>
      </p:sp>
      <p:sp>
        <p:nvSpPr>
          <p:cNvPr id="9" name="Shape 7"/>
          <p:cNvSpPr/>
          <p:nvPr/>
        </p:nvSpPr>
        <p:spPr>
          <a:xfrm>
            <a:off x="5212080" y="1078992"/>
            <a:ext cx="3657600" cy="347472"/>
          </a:xfrm>
          <a:prstGeom prst="rect">
            <a:avLst/>
          </a:prstGeom>
          <a:solidFill>
            <a:srgbClr val="2E7D32"/>
          </a:solidFill>
          <a:ln w="12700">
            <a:solidFill>
              <a:srgbClr val="2E7D32"/>
            </a:solidFill>
            <a:prstDash val="solid"/>
          </a:ln>
        </p:spPr>
      </p:sp>
      <p:sp>
        <p:nvSpPr>
          <p:cNvPr id="10" name="Text 8"/>
          <p:cNvSpPr/>
          <p:nvPr/>
        </p:nvSpPr>
        <p:spPr>
          <a:xfrm>
            <a:off x="5285232" y="1078992"/>
            <a:ext cx="3566160" cy="347472"/>
          </a:xfrm>
          <a:prstGeom prst="rect">
            <a:avLst/>
          </a:prstGeom>
          <a:noFill/>
          <a:ln/>
        </p:spPr>
        <p:txBody>
          <a:bodyPr wrap="square" rtlCol="0" anchor="ctr"/>
          <a:lstStyle/>
          <a:p>
            <a:pPr marL="0" indent="0">
              <a:buNone/>
            </a:pPr>
            <a:r>
              <a:rPr lang="en-US" sz="1050" b="1" dirty="0">
                <a:solidFill>
                  <a:srgbClr val="FFFFFF"/>
                </a:solidFill>
              </a:rPr>
              <a:t>Gap / Limitation</a:t>
            </a:r>
            <a:endParaRPr lang="en-US" sz="1050" dirty="0"/>
          </a:p>
        </p:txBody>
      </p:sp>
      <p:sp>
        <p:nvSpPr>
          <p:cNvPr id="11" name="Shape 9"/>
          <p:cNvSpPr/>
          <p:nvPr/>
        </p:nvSpPr>
        <p:spPr>
          <a:xfrm>
            <a:off x="274320" y="1481328"/>
            <a:ext cx="2011680" cy="594360"/>
          </a:xfrm>
          <a:prstGeom prst="rect">
            <a:avLst/>
          </a:prstGeom>
          <a:solidFill>
            <a:srgbClr val="FFFFFF"/>
          </a:solidFill>
          <a:ln w="12700">
            <a:solidFill>
              <a:srgbClr val="A5D6A7"/>
            </a:solidFill>
            <a:prstDash val="solid"/>
          </a:ln>
        </p:spPr>
      </p:sp>
      <p:sp>
        <p:nvSpPr>
          <p:cNvPr id="12" name="Shape 10"/>
          <p:cNvSpPr/>
          <p:nvPr/>
        </p:nvSpPr>
        <p:spPr>
          <a:xfrm>
            <a:off x="2331720" y="1481328"/>
            <a:ext cx="2834640" cy="594360"/>
          </a:xfrm>
          <a:prstGeom prst="rect">
            <a:avLst/>
          </a:prstGeom>
          <a:solidFill>
            <a:srgbClr val="FFFFFF"/>
          </a:solidFill>
          <a:ln w="12700">
            <a:solidFill>
              <a:srgbClr val="A5D6A7"/>
            </a:solidFill>
            <a:prstDash val="solid"/>
          </a:ln>
        </p:spPr>
      </p:sp>
      <p:sp>
        <p:nvSpPr>
          <p:cNvPr id="13" name="Shape 11"/>
          <p:cNvSpPr/>
          <p:nvPr/>
        </p:nvSpPr>
        <p:spPr>
          <a:xfrm>
            <a:off x="5212080" y="1481328"/>
            <a:ext cx="3657600" cy="594360"/>
          </a:xfrm>
          <a:prstGeom prst="rect">
            <a:avLst/>
          </a:prstGeom>
          <a:solidFill>
            <a:srgbClr val="FFFFFF"/>
          </a:solidFill>
          <a:ln w="12700">
            <a:solidFill>
              <a:srgbClr val="A5D6A7"/>
            </a:solidFill>
            <a:prstDash val="solid"/>
          </a:ln>
        </p:spPr>
      </p:sp>
      <p:sp>
        <p:nvSpPr>
          <p:cNvPr id="14" name="Text 12"/>
          <p:cNvSpPr/>
          <p:nvPr/>
        </p:nvSpPr>
        <p:spPr>
          <a:xfrm>
            <a:off x="347472" y="1554480"/>
            <a:ext cx="1920240" cy="475488"/>
          </a:xfrm>
          <a:prstGeom prst="rect">
            <a:avLst/>
          </a:prstGeom>
          <a:noFill/>
          <a:ln/>
        </p:spPr>
        <p:txBody>
          <a:bodyPr wrap="square" rtlCol="0" anchor="ctr"/>
          <a:lstStyle/>
          <a:p>
            <a:pPr marL="0" indent="0">
              <a:buNone/>
            </a:pPr>
            <a:r>
              <a:rPr lang="en-US" sz="950" b="1" dirty="0">
                <a:solidFill>
                  <a:srgbClr val="2E7D32"/>
                </a:solidFill>
              </a:rPr>
              <a:t>Gupta &amp; Kumar (2023)</a:t>
            </a:r>
            <a:endParaRPr lang="en-US" sz="950" dirty="0"/>
          </a:p>
        </p:txBody>
      </p:sp>
      <p:sp>
        <p:nvSpPr>
          <p:cNvPr id="15" name="Text 13"/>
          <p:cNvSpPr/>
          <p:nvPr/>
        </p:nvSpPr>
        <p:spPr>
          <a:xfrm>
            <a:off x="2404872" y="1554480"/>
            <a:ext cx="2743200" cy="475488"/>
          </a:xfrm>
          <a:prstGeom prst="rect">
            <a:avLst/>
          </a:prstGeom>
          <a:noFill/>
          <a:ln/>
        </p:spPr>
        <p:txBody>
          <a:bodyPr wrap="square" rtlCol="0" anchor="ctr"/>
          <a:lstStyle/>
          <a:p>
            <a:pPr marL="0" indent="0">
              <a:lnSpc>
                <a:spcPct val="130000"/>
              </a:lnSpc>
              <a:buNone/>
            </a:pPr>
            <a:r>
              <a:rPr lang="en-US" sz="950" dirty="0">
                <a:solidFill>
                  <a:srgbClr val="1C1C1C"/>
                </a:solidFill>
              </a:rPr>
              <a:t>ML models for AQI prediction</a:t>
            </a:r>
            <a:endParaRPr lang="en-US" sz="950" dirty="0"/>
          </a:p>
        </p:txBody>
      </p:sp>
      <p:sp>
        <p:nvSpPr>
          <p:cNvPr id="16" name="Text 14"/>
          <p:cNvSpPr/>
          <p:nvPr/>
        </p:nvSpPr>
        <p:spPr>
          <a:xfrm>
            <a:off x="5285232" y="1554480"/>
            <a:ext cx="3566160" cy="475488"/>
          </a:xfrm>
          <a:prstGeom prst="rect">
            <a:avLst/>
          </a:prstGeom>
          <a:noFill/>
          <a:ln/>
        </p:spPr>
        <p:txBody>
          <a:bodyPr wrap="square" rtlCol="0" anchor="ctr"/>
          <a:lstStyle/>
          <a:p>
            <a:pPr marL="0" indent="0">
              <a:lnSpc>
                <a:spcPct val="130000"/>
              </a:lnSpc>
              <a:buNone/>
            </a:pPr>
            <a:r>
              <a:rPr lang="en-US" sz="950" dirty="0">
                <a:solidFill>
                  <a:srgbClr val="7B4F00"/>
                </a:solidFill>
              </a:rPr>
              <a:t> Limited models, no deep learning</a:t>
            </a:r>
            <a:endParaRPr lang="en-US" sz="950" dirty="0"/>
          </a:p>
        </p:txBody>
      </p:sp>
      <p:sp>
        <p:nvSpPr>
          <p:cNvPr id="17" name="Shape 15"/>
          <p:cNvSpPr/>
          <p:nvPr/>
        </p:nvSpPr>
        <p:spPr>
          <a:xfrm>
            <a:off x="274320" y="2139696"/>
            <a:ext cx="2011680" cy="594360"/>
          </a:xfrm>
          <a:prstGeom prst="rect">
            <a:avLst/>
          </a:prstGeom>
          <a:solidFill>
            <a:srgbClr val="F1F8E9"/>
          </a:solidFill>
          <a:ln w="12700">
            <a:solidFill>
              <a:srgbClr val="A5D6A7"/>
            </a:solidFill>
            <a:prstDash val="solid"/>
          </a:ln>
        </p:spPr>
      </p:sp>
      <p:sp>
        <p:nvSpPr>
          <p:cNvPr id="18" name="Shape 16"/>
          <p:cNvSpPr/>
          <p:nvPr/>
        </p:nvSpPr>
        <p:spPr>
          <a:xfrm>
            <a:off x="2331720" y="2139696"/>
            <a:ext cx="2834640" cy="594360"/>
          </a:xfrm>
          <a:prstGeom prst="rect">
            <a:avLst/>
          </a:prstGeom>
          <a:solidFill>
            <a:srgbClr val="F1F8E9"/>
          </a:solidFill>
          <a:ln w="12700">
            <a:solidFill>
              <a:srgbClr val="A5D6A7"/>
            </a:solidFill>
            <a:prstDash val="solid"/>
          </a:ln>
        </p:spPr>
      </p:sp>
      <p:sp>
        <p:nvSpPr>
          <p:cNvPr id="19" name="Shape 17"/>
          <p:cNvSpPr/>
          <p:nvPr/>
        </p:nvSpPr>
        <p:spPr>
          <a:xfrm>
            <a:off x="5212080" y="2139696"/>
            <a:ext cx="3657600" cy="594360"/>
          </a:xfrm>
          <a:prstGeom prst="rect">
            <a:avLst/>
          </a:prstGeom>
          <a:solidFill>
            <a:srgbClr val="F1F8E9"/>
          </a:solidFill>
          <a:ln w="12700">
            <a:solidFill>
              <a:srgbClr val="A5D6A7"/>
            </a:solidFill>
            <a:prstDash val="solid"/>
          </a:ln>
        </p:spPr>
      </p:sp>
      <p:sp>
        <p:nvSpPr>
          <p:cNvPr id="20" name="Text 18"/>
          <p:cNvSpPr/>
          <p:nvPr/>
        </p:nvSpPr>
        <p:spPr>
          <a:xfrm>
            <a:off x="347472" y="2212848"/>
            <a:ext cx="1920240" cy="475488"/>
          </a:xfrm>
          <a:prstGeom prst="rect">
            <a:avLst/>
          </a:prstGeom>
          <a:noFill/>
          <a:ln/>
        </p:spPr>
        <p:txBody>
          <a:bodyPr wrap="square" rtlCol="0" anchor="ctr"/>
          <a:lstStyle/>
          <a:p>
            <a:pPr marL="0" indent="0">
              <a:buNone/>
            </a:pPr>
            <a:r>
              <a:rPr lang="en-US" sz="950" b="1" dirty="0">
                <a:solidFill>
                  <a:srgbClr val="2E7D32"/>
                </a:solidFill>
              </a:rPr>
              <a:t>Kumar et al. (2024)</a:t>
            </a:r>
            <a:endParaRPr lang="en-US" sz="950" dirty="0"/>
          </a:p>
        </p:txBody>
      </p:sp>
      <p:sp>
        <p:nvSpPr>
          <p:cNvPr id="21" name="Text 19"/>
          <p:cNvSpPr/>
          <p:nvPr/>
        </p:nvSpPr>
        <p:spPr>
          <a:xfrm>
            <a:off x="2404872" y="2212848"/>
            <a:ext cx="2743200" cy="475488"/>
          </a:xfrm>
          <a:prstGeom prst="rect">
            <a:avLst/>
          </a:prstGeom>
          <a:noFill/>
          <a:ln/>
        </p:spPr>
        <p:txBody>
          <a:bodyPr wrap="square" rtlCol="0" anchor="ctr"/>
          <a:lstStyle/>
          <a:p>
            <a:pPr marL="0" indent="0">
              <a:lnSpc>
                <a:spcPct val="130000"/>
              </a:lnSpc>
              <a:buNone/>
            </a:pPr>
            <a:r>
              <a:rPr lang="en-US" sz="950" dirty="0">
                <a:solidFill>
                  <a:srgbClr val="1C1C1C"/>
                </a:solidFill>
              </a:rPr>
              <a:t>Regression-based PM2.5 prediction — Delhi</a:t>
            </a:r>
            <a:endParaRPr lang="en-US" sz="950" dirty="0"/>
          </a:p>
        </p:txBody>
      </p:sp>
      <p:sp>
        <p:nvSpPr>
          <p:cNvPr id="22" name="Text 20"/>
          <p:cNvSpPr/>
          <p:nvPr/>
        </p:nvSpPr>
        <p:spPr>
          <a:xfrm>
            <a:off x="5285232" y="2212848"/>
            <a:ext cx="3566160" cy="475488"/>
          </a:xfrm>
          <a:prstGeom prst="rect">
            <a:avLst/>
          </a:prstGeom>
          <a:noFill/>
          <a:ln/>
        </p:spPr>
        <p:txBody>
          <a:bodyPr wrap="square" rtlCol="0" anchor="ctr"/>
          <a:lstStyle/>
          <a:p>
            <a:pPr marL="0" indent="0">
              <a:lnSpc>
                <a:spcPct val="130000"/>
              </a:lnSpc>
              <a:buNone/>
            </a:pPr>
            <a:r>
              <a:rPr lang="en-US" sz="950" dirty="0">
                <a:solidFill>
                  <a:srgbClr val="7B4F00"/>
                </a:solidFill>
              </a:rPr>
              <a:t> Location-specific, no hybrid models</a:t>
            </a:r>
            <a:endParaRPr lang="en-US" sz="950" dirty="0"/>
          </a:p>
        </p:txBody>
      </p:sp>
      <p:sp>
        <p:nvSpPr>
          <p:cNvPr id="23" name="Shape 21"/>
          <p:cNvSpPr/>
          <p:nvPr/>
        </p:nvSpPr>
        <p:spPr>
          <a:xfrm>
            <a:off x="274320" y="2798064"/>
            <a:ext cx="2011680" cy="594360"/>
          </a:xfrm>
          <a:prstGeom prst="rect">
            <a:avLst/>
          </a:prstGeom>
          <a:solidFill>
            <a:srgbClr val="FFFFFF"/>
          </a:solidFill>
          <a:ln w="12700">
            <a:solidFill>
              <a:srgbClr val="A5D6A7"/>
            </a:solidFill>
            <a:prstDash val="solid"/>
          </a:ln>
        </p:spPr>
      </p:sp>
      <p:sp>
        <p:nvSpPr>
          <p:cNvPr id="24" name="Shape 22"/>
          <p:cNvSpPr/>
          <p:nvPr/>
        </p:nvSpPr>
        <p:spPr>
          <a:xfrm>
            <a:off x="2331720" y="2798064"/>
            <a:ext cx="2834640" cy="594360"/>
          </a:xfrm>
          <a:prstGeom prst="rect">
            <a:avLst/>
          </a:prstGeom>
          <a:solidFill>
            <a:srgbClr val="FFFFFF"/>
          </a:solidFill>
          <a:ln w="12700">
            <a:solidFill>
              <a:srgbClr val="A5D6A7"/>
            </a:solidFill>
            <a:prstDash val="solid"/>
          </a:ln>
        </p:spPr>
      </p:sp>
      <p:sp>
        <p:nvSpPr>
          <p:cNvPr id="25" name="Shape 23"/>
          <p:cNvSpPr/>
          <p:nvPr/>
        </p:nvSpPr>
        <p:spPr>
          <a:xfrm>
            <a:off x="5212080" y="2798064"/>
            <a:ext cx="3657600" cy="594360"/>
          </a:xfrm>
          <a:prstGeom prst="rect">
            <a:avLst/>
          </a:prstGeom>
          <a:solidFill>
            <a:srgbClr val="FFFFFF"/>
          </a:solidFill>
          <a:ln w="12700">
            <a:solidFill>
              <a:srgbClr val="A5D6A7"/>
            </a:solidFill>
            <a:prstDash val="solid"/>
          </a:ln>
        </p:spPr>
      </p:sp>
      <p:sp>
        <p:nvSpPr>
          <p:cNvPr id="26" name="Text 24"/>
          <p:cNvSpPr/>
          <p:nvPr/>
        </p:nvSpPr>
        <p:spPr>
          <a:xfrm>
            <a:off x="347472" y="2871216"/>
            <a:ext cx="1920240" cy="475488"/>
          </a:xfrm>
          <a:prstGeom prst="rect">
            <a:avLst/>
          </a:prstGeom>
          <a:noFill/>
          <a:ln/>
        </p:spPr>
        <p:txBody>
          <a:bodyPr wrap="square" rtlCol="0" anchor="ctr"/>
          <a:lstStyle/>
          <a:p>
            <a:pPr marL="0" indent="0">
              <a:buNone/>
            </a:pPr>
            <a:r>
              <a:rPr lang="en-US" sz="950" b="1" dirty="0">
                <a:solidFill>
                  <a:srgbClr val="2E7D32"/>
                </a:solidFill>
              </a:rPr>
              <a:t>Singh &amp; Suthar (2025)</a:t>
            </a:r>
            <a:endParaRPr lang="en-US" sz="950" dirty="0"/>
          </a:p>
        </p:txBody>
      </p:sp>
      <p:sp>
        <p:nvSpPr>
          <p:cNvPr id="27" name="Text 25"/>
          <p:cNvSpPr/>
          <p:nvPr/>
        </p:nvSpPr>
        <p:spPr>
          <a:xfrm>
            <a:off x="2404872" y="2871216"/>
            <a:ext cx="2743200" cy="475488"/>
          </a:xfrm>
          <a:prstGeom prst="rect">
            <a:avLst/>
          </a:prstGeom>
          <a:noFill/>
          <a:ln/>
        </p:spPr>
        <p:txBody>
          <a:bodyPr wrap="square" rtlCol="0" anchor="ctr"/>
          <a:lstStyle/>
          <a:p>
            <a:pPr marL="0" indent="0">
              <a:lnSpc>
                <a:spcPct val="130000"/>
              </a:lnSpc>
              <a:buNone/>
            </a:pPr>
            <a:r>
              <a:rPr lang="en-US" sz="950" dirty="0">
                <a:solidFill>
                  <a:srgbClr val="1C1C1C"/>
                </a:solidFill>
              </a:rPr>
              <a:t>Random Forest + Linear Regression — Jaipur</a:t>
            </a:r>
            <a:endParaRPr lang="en-US" sz="950" dirty="0"/>
          </a:p>
        </p:txBody>
      </p:sp>
      <p:sp>
        <p:nvSpPr>
          <p:cNvPr id="28" name="Text 26"/>
          <p:cNvSpPr/>
          <p:nvPr/>
        </p:nvSpPr>
        <p:spPr>
          <a:xfrm>
            <a:off x="5285232" y="2871216"/>
            <a:ext cx="3566160" cy="475488"/>
          </a:xfrm>
          <a:prstGeom prst="rect">
            <a:avLst/>
          </a:prstGeom>
          <a:noFill/>
          <a:ln/>
        </p:spPr>
        <p:txBody>
          <a:bodyPr wrap="square" rtlCol="0" anchor="ctr"/>
          <a:lstStyle/>
          <a:p>
            <a:pPr marL="0" indent="0">
              <a:lnSpc>
                <a:spcPct val="130000"/>
              </a:lnSpc>
              <a:buNone/>
            </a:pPr>
            <a:r>
              <a:rPr lang="en-US" sz="950" dirty="0">
                <a:solidFill>
                  <a:srgbClr val="7B4F00"/>
                </a:solidFill>
              </a:rPr>
              <a:t>No real-time prediction.</a:t>
            </a:r>
            <a:endParaRPr lang="en-US" sz="950" dirty="0"/>
          </a:p>
        </p:txBody>
      </p:sp>
      <p:sp>
        <p:nvSpPr>
          <p:cNvPr id="29" name="Shape 27"/>
          <p:cNvSpPr/>
          <p:nvPr/>
        </p:nvSpPr>
        <p:spPr>
          <a:xfrm>
            <a:off x="274320" y="3456432"/>
            <a:ext cx="2011680" cy="594360"/>
          </a:xfrm>
          <a:prstGeom prst="rect">
            <a:avLst/>
          </a:prstGeom>
          <a:solidFill>
            <a:srgbClr val="F1F8E9"/>
          </a:solidFill>
          <a:ln w="12700">
            <a:solidFill>
              <a:srgbClr val="A5D6A7"/>
            </a:solidFill>
            <a:prstDash val="solid"/>
          </a:ln>
        </p:spPr>
      </p:sp>
      <p:sp>
        <p:nvSpPr>
          <p:cNvPr id="30" name="Shape 28"/>
          <p:cNvSpPr/>
          <p:nvPr/>
        </p:nvSpPr>
        <p:spPr>
          <a:xfrm>
            <a:off x="2331720" y="3456432"/>
            <a:ext cx="2834640" cy="594360"/>
          </a:xfrm>
          <a:prstGeom prst="rect">
            <a:avLst/>
          </a:prstGeom>
          <a:solidFill>
            <a:srgbClr val="F1F8E9"/>
          </a:solidFill>
          <a:ln w="12700">
            <a:solidFill>
              <a:srgbClr val="A5D6A7"/>
            </a:solidFill>
            <a:prstDash val="solid"/>
          </a:ln>
        </p:spPr>
      </p:sp>
      <p:sp>
        <p:nvSpPr>
          <p:cNvPr id="31" name="Shape 29"/>
          <p:cNvSpPr/>
          <p:nvPr/>
        </p:nvSpPr>
        <p:spPr>
          <a:xfrm>
            <a:off x="5212080" y="3456432"/>
            <a:ext cx="3657600" cy="594360"/>
          </a:xfrm>
          <a:prstGeom prst="rect">
            <a:avLst/>
          </a:prstGeom>
          <a:solidFill>
            <a:srgbClr val="F1F8E9"/>
          </a:solidFill>
          <a:ln w="12700">
            <a:solidFill>
              <a:srgbClr val="A5D6A7"/>
            </a:solidFill>
            <a:prstDash val="solid"/>
          </a:ln>
        </p:spPr>
      </p:sp>
      <p:sp>
        <p:nvSpPr>
          <p:cNvPr id="32" name="Text 30"/>
          <p:cNvSpPr/>
          <p:nvPr/>
        </p:nvSpPr>
        <p:spPr>
          <a:xfrm>
            <a:off x="347472" y="3529584"/>
            <a:ext cx="1920240" cy="475488"/>
          </a:xfrm>
          <a:prstGeom prst="rect">
            <a:avLst/>
          </a:prstGeom>
          <a:noFill/>
          <a:ln/>
        </p:spPr>
        <p:txBody>
          <a:bodyPr wrap="square" rtlCol="0" anchor="ctr"/>
          <a:lstStyle/>
          <a:p>
            <a:pPr marL="0" indent="0">
              <a:buNone/>
            </a:pPr>
            <a:r>
              <a:rPr lang="en-US" sz="950" b="1" dirty="0">
                <a:solidFill>
                  <a:srgbClr val="2E7D32"/>
                </a:solidFill>
              </a:rPr>
              <a:t>Zhang et al. (2020)</a:t>
            </a:r>
            <a:endParaRPr lang="en-US" sz="950" dirty="0"/>
          </a:p>
        </p:txBody>
      </p:sp>
      <p:sp>
        <p:nvSpPr>
          <p:cNvPr id="33" name="Text 31"/>
          <p:cNvSpPr/>
          <p:nvPr/>
        </p:nvSpPr>
        <p:spPr>
          <a:xfrm>
            <a:off x="2404872" y="3529584"/>
            <a:ext cx="2743200" cy="475488"/>
          </a:xfrm>
          <a:prstGeom prst="rect">
            <a:avLst/>
          </a:prstGeom>
          <a:noFill/>
          <a:ln/>
        </p:spPr>
        <p:txBody>
          <a:bodyPr wrap="square" rtlCol="0" anchor="ctr"/>
          <a:lstStyle/>
          <a:p>
            <a:pPr marL="0" indent="0">
              <a:lnSpc>
                <a:spcPct val="130000"/>
              </a:lnSpc>
              <a:buNone/>
            </a:pPr>
            <a:r>
              <a:rPr lang="en-US" sz="950" dirty="0">
                <a:solidFill>
                  <a:srgbClr val="1C1C1C"/>
                </a:solidFill>
              </a:rPr>
              <a:t>LSTM deep learning for pollution prediction</a:t>
            </a:r>
            <a:endParaRPr lang="en-US" sz="950" dirty="0"/>
          </a:p>
        </p:txBody>
      </p:sp>
      <p:sp>
        <p:nvSpPr>
          <p:cNvPr id="34" name="Text 32"/>
          <p:cNvSpPr/>
          <p:nvPr/>
        </p:nvSpPr>
        <p:spPr>
          <a:xfrm>
            <a:off x="5285232" y="3529584"/>
            <a:ext cx="3566160" cy="475488"/>
          </a:xfrm>
          <a:prstGeom prst="rect">
            <a:avLst/>
          </a:prstGeom>
          <a:noFill/>
          <a:ln/>
        </p:spPr>
        <p:txBody>
          <a:bodyPr wrap="square" rtlCol="0" anchor="ctr"/>
          <a:lstStyle/>
          <a:p>
            <a:pPr marL="0" indent="0">
              <a:lnSpc>
                <a:spcPct val="130000"/>
              </a:lnSpc>
              <a:buNone/>
            </a:pPr>
            <a:r>
              <a:rPr lang="en-US" sz="950" dirty="0">
                <a:solidFill>
                  <a:srgbClr val="7B4F00"/>
                </a:solidFill>
              </a:rPr>
              <a:t>High complexity, low explainability</a:t>
            </a:r>
            <a:endParaRPr lang="en-US" sz="950" dirty="0"/>
          </a:p>
        </p:txBody>
      </p:sp>
      <p:sp>
        <p:nvSpPr>
          <p:cNvPr id="35" name="Shape 33"/>
          <p:cNvSpPr/>
          <p:nvPr/>
        </p:nvSpPr>
        <p:spPr>
          <a:xfrm>
            <a:off x="274320" y="4114800"/>
            <a:ext cx="2011680" cy="594360"/>
          </a:xfrm>
          <a:prstGeom prst="rect">
            <a:avLst/>
          </a:prstGeom>
          <a:solidFill>
            <a:srgbClr val="FFFFFF"/>
          </a:solidFill>
          <a:ln w="12700">
            <a:solidFill>
              <a:srgbClr val="A5D6A7"/>
            </a:solidFill>
            <a:prstDash val="solid"/>
          </a:ln>
        </p:spPr>
      </p:sp>
      <p:sp>
        <p:nvSpPr>
          <p:cNvPr id="36" name="Shape 34"/>
          <p:cNvSpPr/>
          <p:nvPr/>
        </p:nvSpPr>
        <p:spPr>
          <a:xfrm>
            <a:off x="2331720" y="4114800"/>
            <a:ext cx="2834640" cy="594360"/>
          </a:xfrm>
          <a:prstGeom prst="rect">
            <a:avLst/>
          </a:prstGeom>
          <a:solidFill>
            <a:srgbClr val="FFFFFF"/>
          </a:solidFill>
          <a:ln w="12700">
            <a:solidFill>
              <a:srgbClr val="A5D6A7"/>
            </a:solidFill>
            <a:prstDash val="solid"/>
          </a:ln>
        </p:spPr>
      </p:sp>
      <p:sp>
        <p:nvSpPr>
          <p:cNvPr id="37" name="Shape 35"/>
          <p:cNvSpPr/>
          <p:nvPr/>
        </p:nvSpPr>
        <p:spPr>
          <a:xfrm>
            <a:off x="5212080" y="4114800"/>
            <a:ext cx="3657600" cy="594360"/>
          </a:xfrm>
          <a:prstGeom prst="rect">
            <a:avLst/>
          </a:prstGeom>
          <a:solidFill>
            <a:srgbClr val="FFFFFF"/>
          </a:solidFill>
          <a:ln w="12700">
            <a:solidFill>
              <a:srgbClr val="A5D6A7"/>
            </a:solidFill>
            <a:prstDash val="solid"/>
          </a:ln>
        </p:spPr>
      </p:sp>
      <p:sp>
        <p:nvSpPr>
          <p:cNvPr id="38" name="Text 36"/>
          <p:cNvSpPr/>
          <p:nvPr/>
        </p:nvSpPr>
        <p:spPr>
          <a:xfrm>
            <a:off x="347472" y="4187952"/>
            <a:ext cx="1920240" cy="475488"/>
          </a:xfrm>
          <a:prstGeom prst="rect">
            <a:avLst/>
          </a:prstGeom>
          <a:noFill/>
          <a:ln/>
        </p:spPr>
        <p:txBody>
          <a:bodyPr wrap="square" rtlCol="0" anchor="ctr"/>
          <a:lstStyle/>
          <a:p>
            <a:pPr marL="0" indent="0">
              <a:buNone/>
            </a:pPr>
            <a:r>
              <a:rPr lang="en-US" sz="950" b="1" dirty="0">
                <a:solidFill>
                  <a:srgbClr val="2E7D32"/>
                </a:solidFill>
              </a:rPr>
              <a:t>Devarakonda et al. (2018)</a:t>
            </a:r>
            <a:endParaRPr lang="en-US" sz="950" dirty="0"/>
          </a:p>
        </p:txBody>
      </p:sp>
      <p:sp>
        <p:nvSpPr>
          <p:cNvPr id="39" name="Text 37"/>
          <p:cNvSpPr/>
          <p:nvPr/>
        </p:nvSpPr>
        <p:spPr>
          <a:xfrm>
            <a:off x="2404872" y="4187952"/>
            <a:ext cx="2743200" cy="475488"/>
          </a:xfrm>
          <a:prstGeom prst="rect">
            <a:avLst/>
          </a:prstGeom>
          <a:noFill/>
          <a:ln/>
        </p:spPr>
        <p:txBody>
          <a:bodyPr wrap="square" rtlCol="0" anchor="ctr"/>
          <a:lstStyle/>
          <a:p>
            <a:pPr marL="0" indent="0">
              <a:lnSpc>
                <a:spcPct val="130000"/>
              </a:lnSpc>
              <a:buNone/>
            </a:pPr>
            <a:r>
              <a:rPr lang="en-US" sz="950" dirty="0">
                <a:solidFill>
                  <a:srgbClr val="1C1C1C"/>
                </a:solidFill>
              </a:rPr>
              <a:t>SVM, Decision Tree — real-time AQI</a:t>
            </a:r>
            <a:endParaRPr lang="en-US" sz="950" dirty="0"/>
          </a:p>
        </p:txBody>
      </p:sp>
      <p:sp>
        <p:nvSpPr>
          <p:cNvPr id="40" name="Text 38"/>
          <p:cNvSpPr/>
          <p:nvPr/>
        </p:nvSpPr>
        <p:spPr>
          <a:xfrm>
            <a:off x="5285232" y="4187952"/>
            <a:ext cx="3566160" cy="475488"/>
          </a:xfrm>
          <a:prstGeom prst="rect">
            <a:avLst/>
          </a:prstGeom>
          <a:noFill/>
          <a:ln/>
        </p:spPr>
        <p:txBody>
          <a:bodyPr wrap="square" rtlCol="0" anchor="ctr"/>
          <a:lstStyle/>
          <a:p>
            <a:pPr marL="0" indent="0">
              <a:lnSpc>
                <a:spcPct val="130000"/>
              </a:lnSpc>
              <a:buNone/>
            </a:pPr>
            <a:r>
              <a:rPr lang="en-US" sz="950" dirty="0">
                <a:solidFill>
                  <a:srgbClr val="7B4F00"/>
                </a:solidFill>
              </a:rPr>
              <a:t> Limited features, no health risk analysis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320040" y="0"/>
            <a:ext cx="8503920" cy="502920"/>
          </a:xfrm>
          <a:prstGeom prst="rect">
            <a:avLst/>
          </a:prstGeom>
          <a:noFill/>
          <a:ln/>
        </p:spPr>
        <p:txBody>
          <a:bodyPr wrap="square" rtlCol="0" anchor="ctr"/>
          <a:lstStyle/>
          <a:p>
            <a:pPr marL="0" indent="0">
              <a:buNone/>
            </a:pPr>
            <a:r>
              <a:rPr lang="en-US" sz="1000" b="1" kern="0" spc="300" dirty="0">
                <a:solidFill>
                  <a:srgbClr val="FFFFFF"/>
                </a:solidFill>
              </a:rPr>
              <a:t>OBJECTIVE  •  RESEARCH GAPS  •  OUR APPROACH</a:t>
            </a:r>
            <a:endParaRPr lang="en-US" sz="1000" dirty="0"/>
          </a:p>
        </p:txBody>
      </p:sp>
      <p:sp>
        <p:nvSpPr>
          <p:cNvPr id="4" name="Text 2"/>
          <p:cNvSpPr/>
          <p:nvPr/>
        </p:nvSpPr>
        <p:spPr>
          <a:xfrm>
            <a:off x="320040" y="594360"/>
            <a:ext cx="8503920" cy="384048"/>
          </a:xfrm>
          <a:prstGeom prst="rect">
            <a:avLst/>
          </a:prstGeom>
          <a:noFill/>
          <a:ln/>
        </p:spPr>
        <p:txBody>
          <a:bodyPr wrap="square" rtlCol="0" anchor="ctr"/>
          <a:lstStyle/>
          <a:p>
            <a:pPr marL="0" indent="0">
              <a:buNone/>
            </a:pPr>
            <a:r>
              <a:rPr lang="en-US" sz="2000" b="1" dirty="0">
                <a:solidFill>
                  <a:srgbClr val="1C1C1C"/>
                </a:solidFill>
              </a:rPr>
              <a:t>Objective, Gaps &amp; Our Approach</a:t>
            </a:r>
            <a:endParaRPr lang="en-US" sz="2000" dirty="0"/>
          </a:p>
        </p:txBody>
      </p:sp>
      <p:sp>
        <p:nvSpPr>
          <p:cNvPr id="5" name="Shape 3"/>
          <p:cNvSpPr/>
          <p:nvPr/>
        </p:nvSpPr>
        <p:spPr>
          <a:xfrm>
            <a:off x="274320" y="1051560"/>
            <a:ext cx="8595360" cy="868680"/>
          </a:xfrm>
          <a:prstGeom prst="rect">
            <a:avLst/>
          </a:prstGeom>
          <a:solidFill>
            <a:srgbClr val="E8F5E9"/>
          </a:solidFill>
          <a:ln w="12700">
            <a:solidFill>
              <a:srgbClr val="A5D6A7"/>
            </a:solidFill>
            <a:prstDash val="solid"/>
          </a:ln>
        </p:spPr>
      </p:sp>
      <p:sp>
        <p:nvSpPr>
          <p:cNvPr id="6" name="Shape 4"/>
          <p:cNvSpPr/>
          <p:nvPr/>
        </p:nvSpPr>
        <p:spPr>
          <a:xfrm>
            <a:off x="274320" y="1051560"/>
            <a:ext cx="64008" cy="868680"/>
          </a:xfrm>
          <a:prstGeom prst="rect">
            <a:avLst/>
          </a:prstGeom>
          <a:solidFill>
            <a:srgbClr val="2E7D32"/>
          </a:solidFill>
          <a:ln w="12700">
            <a:solidFill>
              <a:srgbClr val="2E7D32"/>
            </a:solidFill>
            <a:prstDash val="solid"/>
          </a:ln>
        </p:spPr>
      </p:sp>
      <p:sp>
        <p:nvSpPr>
          <p:cNvPr id="7" name="Text 5"/>
          <p:cNvSpPr/>
          <p:nvPr/>
        </p:nvSpPr>
        <p:spPr>
          <a:xfrm>
            <a:off x="438912" y="1078992"/>
            <a:ext cx="8229600" cy="274320"/>
          </a:xfrm>
          <a:prstGeom prst="rect">
            <a:avLst/>
          </a:prstGeom>
          <a:noFill/>
          <a:ln/>
        </p:spPr>
        <p:txBody>
          <a:bodyPr wrap="square" rtlCol="0" anchor="ctr"/>
          <a:lstStyle/>
          <a:p>
            <a:pPr marL="0" indent="0">
              <a:buNone/>
            </a:pPr>
            <a:r>
              <a:rPr lang="en-US" sz="1100" b="1" dirty="0">
                <a:solidFill>
                  <a:srgbClr val="2E7D32"/>
                </a:solidFill>
              </a:rPr>
              <a:t>  Objective</a:t>
            </a:r>
            <a:endParaRPr lang="en-US" sz="1100" dirty="0"/>
          </a:p>
        </p:txBody>
      </p:sp>
      <p:sp>
        <p:nvSpPr>
          <p:cNvPr id="8" name="Text 6"/>
          <p:cNvSpPr/>
          <p:nvPr/>
        </p:nvSpPr>
        <p:spPr>
          <a:xfrm>
            <a:off x="438912" y="1335024"/>
            <a:ext cx="8229600" cy="530352"/>
          </a:xfrm>
          <a:prstGeom prst="rect">
            <a:avLst/>
          </a:prstGeom>
          <a:noFill/>
          <a:ln/>
        </p:spPr>
        <p:txBody>
          <a:bodyPr wrap="square" rtlCol="0" anchor="ctr"/>
          <a:lstStyle/>
          <a:p>
            <a:pPr marL="0" indent="0">
              <a:lnSpc>
                <a:spcPct val="135000"/>
              </a:lnSpc>
              <a:buNone/>
            </a:pPr>
            <a:r>
              <a:rPr lang="en-US" sz="1000" dirty="0">
                <a:solidFill>
                  <a:srgbClr val="1C1C1C"/>
                </a:solidFill>
              </a:rPr>
              <a:t>Air pollution poses a serious public health threat in Indian cities. The objective is to analyze large-scale air quality data, classify health risk levels using Machine Learning, and provide actionable insights through an interactive real-time dashboard.</a:t>
            </a:r>
            <a:endParaRPr lang="en-US" sz="1000" dirty="0"/>
          </a:p>
        </p:txBody>
      </p:sp>
      <p:sp>
        <p:nvSpPr>
          <p:cNvPr id="9" name="Text 7"/>
          <p:cNvSpPr/>
          <p:nvPr/>
        </p:nvSpPr>
        <p:spPr>
          <a:xfrm>
            <a:off x="274320" y="2011680"/>
            <a:ext cx="4114800" cy="292608"/>
          </a:xfrm>
          <a:prstGeom prst="rect">
            <a:avLst/>
          </a:prstGeom>
          <a:noFill/>
          <a:ln/>
        </p:spPr>
        <p:txBody>
          <a:bodyPr wrap="square" rtlCol="0" anchor="ctr"/>
          <a:lstStyle/>
          <a:p>
            <a:pPr marL="0" indent="0">
              <a:buNone/>
            </a:pPr>
            <a:r>
              <a:rPr lang="en-US" sz="1200" b="1" dirty="0">
                <a:solidFill>
                  <a:srgbClr val="2E7D32"/>
                </a:solidFill>
              </a:rPr>
              <a:t>Research Gaps in Existing Work</a:t>
            </a:r>
            <a:endParaRPr lang="en-US" sz="1200" dirty="0"/>
          </a:p>
        </p:txBody>
      </p:sp>
      <p:sp>
        <p:nvSpPr>
          <p:cNvPr id="10" name="Shape 8"/>
          <p:cNvSpPr/>
          <p:nvPr/>
        </p:nvSpPr>
        <p:spPr>
          <a:xfrm>
            <a:off x="274320" y="2359152"/>
            <a:ext cx="4114800" cy="384048"/>
          </a:xfrm>
          <a:prstGeom prst="rect">
            <a:avLst/>
          </a:prstGeom>
          <a:solidFill>
            <a:srgbClr val="FFF8E1"/>
          </a:solidFill>
          <a:ln w="12700">
            <a:solidFill>
              <a:srgbClr val="FFE082"/>
            </a:solidFill>
            <a:prstDash val="solid"/>
          </a:ln>
        </p:spPr>
      </p:sp>
      <p:sp>
        <p:nvSpPr>
          <p:cNvPr id="11" name="Text 9"/>
          <p:cNvSpPr/>
          <p:nvPr/>
        </p:nvSpPr>
        <p:spPr>
          <a:xfrm>
            <a:off x="384048" y="2414016"/>
            <a:ext cx="3931920" cy="274320"/>
          </a:xfrm>
          <a:prstGeom prst="rect">
            <a:avLst/>
          </a:prstGeom>
          <a:noFill/>
          <a:ln/>
        </p:spPr>
        <p:txBody>
          <a:bodyPr wrap="square" rtlCol="0" anchor="ctr"/>
          <a:lstStyle/>
          <a:p>
            <a:pPr marL="0" indent="0">
              <a:buNone/>
            </a:pPr>
            <a:r>
              <a:rPr lang="en-US" sz="950" dirty="0">
                <a:solidFill>
                  <a:srgbClr val="7B4F00"/>
                </a:solidFill>
              </a:rPr>
              <a:t> Limited to single location, no multi-city analysis</a:t>
            </a:r>
            <a:endParaRPr lang="en-US" sz="950" dirty="0"/>
          </a:p>
        </p:txBody>
      </p:sp>
      <p:sp>
        <p:nvSpPr>
          <p:cNvPr id="12" name="Shape 10"/>
          <p:cNvSpPr/>
          <p:nvPr/>
        </p:nvSpPr>
        <p:spPr>
          <a:xfrm>
            <a:off x="274320" y="2798064"/>
            <a:ext cx="4114800" cy="384048"/>
          </a:xfrm>
          <a:prstGeom prst="rect">
            <a:avLst/>
          </a:prstGeom>
          <a:solidFill>
            <a:srgbClr val="FFF8E1"/>
          </a:solidFill>
          <a:ln w="12700">
            <a:solidFill>
              <a:srgbClr val="FFE082"/>
            </a:solidFill>
            <a:prstDash val="solid"/>
          </a:ln>
        </p:spPr>
      </p:sp>
      <p:sp>
        <p:nvSpPr>
          <p:cNvPr id="13" name="Text 11"/>
          <p:cNvSpPr/>
          <p:nvPr/>
        </p:nvSpPr>
        <p:spPr>
          <a:xfrm>
            <a:off x="384048" y="2852928"/>
            <a:ext cx="3931920" cy="274320"/>
          </a:xfrm>
          <a:prstGeom prst="rect">
            <a:avLst/>
          </a:prstGeom>
          <a:noFill/>
          <a:ln/>
        </p:spPr>
        <p:txBody>
          <a:bodyPr wrap="square" rtlCol="0" anchor="ctr"/>
          <a:lstStyle/>
          <a:p>
            <a:pPr marL="0" indent="0">
              <a:buNone/>
            </a:pPr>
            <a:r>
              <a:rPr lang="en-US" sz="950" dirty="0">
                <a:solidFill>
                  <a:srgbClr val="7B4F00"/>
                </a:solidFill>
              </a:rPr>
              <a:t>  No integration of health risk categorization</a:t>
            </a:r>
            <a:endParaRPr lang="en-US" sz="950" dirty="0"/>
          </a:p>
        </p:txBody>
      </p:sp>
      <p:sp>
        <p:nvSpPr>
          <p:cNvPr id="14" name="Shape 12"/>
          <p:cNvSpPr/>
          <p:nvPr/>
        </p:nvSpPr>
        <p:spPr>
          <a:xfrm>
            <a:off x="274320" y="3236976"/>
            <a:ext cx="4114800" cy="384048"/>
          </a:xfrm>
          <a:prstGeom prst="rect">
            <a:avLst/>
          </a:prstGeom>
          <a:solidFill>
            <a:srgbClr val="FFF8E1"/>
          </a:solidFill>
          <a:ln w="12700">
            <a:solidFill>
              <a:srgbClr val="FFE082"/>
            </a:solidFill>
            <a:prstDash val="solid"/>
          </a:ln>
        </p:spPr>
      </p:sp>
      <p:sp>
        <p:nvSpPr>
          <p:cNvPr id="15" name="Text 13"/>
          <p:cNvSpPr/>
          <p:nvPr/>
        </p:nvSpPr>
        <p:spPr>
          <a:xfrm>
            <a:off x="384048" y="3291840"/>
            <a:ext cx="3931920" cy="274320"/>
          </a:xfrm>
          <a:prstGeom prst="rect">
            <a:avLst/>
          </a:prstGeom>
          <a:noFill/>
          <a:ln/>
        </p:spPr>
        <p:txBody>
          <a:bodyPr wrap="square" rtlCol="0" anchor="ctr"/>
          <a:lstStyle/>
          <a:p>
            <a:pPr marL="0" indent="0">
              <a:buNone/>
            </a:pPr>
            <a:r>
              <a:rPr lang="en-US" sz="950" dirty="0">
                <a:solidFill>
                  <a:srgbClr val="7B4F00"/>
                </a:solidFill>
              </a:rPr>
              <a:t>  Deep learning models lack explainability</a:t>
            </a:r>
            <a:endParaRPr lang="en-US" sz="950" dirty="0"/>
          </a:p>
        </p:txBody>
      </p:sp>
      <p:sp>
        <p:nvSpPr>
          <p:cNvPr id="16" name="Shape 14"/>
          <p:cNvSpPr/>
          <p:nvPr/>
        </p:nvSpPr>
        <p:spPr>
          <a:xfrm>
            <a:off x="274320" y="3675888"/>
            <a:ext cx="4114800" cy="384048"/>
          </a:xfrm>
          <a:prstGeom prst="rect">
            <a:avLst/>
          </a:prstGeom>
          <a:solidFill>
            <a:srgbClr val="FFF8E1"/>
          </a:solidFill>
          <a:ln w="12700">
            <a:solidFill>
              <a:srgbClr val="FFE082"/>
            </a:solidFill>
            <a:prstDash val="solid"/>
          </a:ln>
        </p:spPr>
      </p:sp>
      <p:sp>
        <p:nvSpPr>
          <p:cNvPr id="17" name="Text 15"/>
          <p:cNvSpPr/>
          <p:nvPr/>
        </p:nvSpPr>
        <p:spPr>
          <a:xfrm>
            <a:off x="384048" y="3730752"/>
            <a:ext cx="3931920" cy="274320"/>
          </a:xfrm>
          <a:prstGeom prst="rect">
            <a:avLst/>
          </a:prstGeom>
          <a:noFill/>
          <a:ln/>
        </p:spPr>
        <p:txBody>
          <a:bodyPr wrap="square" rtlCol="0" anchor="ctr"/>
          <a:lstStyle/>
          <a:p>
            <a:pPr marL="0" indent="0">
              <a:buNone/>
            </a:pPr>
            <a:r>
              <a:rPr lang="en-US" sz="950" dirty="0">
                <a:solidFill>
                  <a:srgbClr val="7B4F00"/>
                </a:solidFill>
              </a:rPr>
              <a:t>  No real-time data or forecasting support</a:t>
            </a:r>
            <a:endParaRPr lang="en-US" sz="950" dirty="0"/>
          </a:p>
        </p:txBody>
      </p:sp>
      <p:sp>
        <p:nvSpPr>
          <p:cNvPr id="18" name="Shape 16"/>
          <p:cNvSpPr/>
          <p:nvPr/>
        </p:nvSpPr>
        <p:spPr>
          <a:xfrm>
            <a:off x="274320" y="4114800"/>
            <a:ext cx="4114800" cy="384048"/>
          </a:xfrm>
          <a:prstGeom prst="rect">
            <a:avLst/>
          </a:prstGeom>
          <a:solidFill>
            <a:srgbClr val="FFF8E1"/>
          </a:solidFill>
          <a:ln w="12700">
            <a:solidFill>
              <a:srgbClr val="FFE082"/>
            </a:solidFill>
            <a:prstDash val="solid"/>
          </a:ln>
        </p:spPr>
      </p:sp>
      <p:sp>
        <p:nvSpPr>
          <p:cNvPr id="19" name="Text 17"/>
          <p:cNvSpPr/>
          <p:nvPr/>
        </p:nvSpPr>
        <p:spPr>
          <a:xfrm>
            <a:off x="384048" y="4169664"/>
            <a:ext cx="3931920" cy="274320"/>
          </a:xfrm>
          <a:prstGeom prst="rect">
            <a:avLst/>
          </a:prstGeom>
          <a:noFill/>
          <a:ln/>
        </p:spPr>
        <p:txBody>
          <a:bodyPr wrap="square" rtlCol="0" anchor="ctr"/>
          <a:lstStyle/>
          <a:p>
            <a:pPr marL="0" indent="0">
              <a:buNone/>
            </a:pPr>
            <a:r>
              <a:rPr lang="en-US" sz="950" dirty="0">
                <a:solidFill>
                  <a:srgbClr val="7B4F00"/>
                </a:solidFill>
              </a:rPr>
              <a:t>  Isolated models  no hybrid approaches used</a:t>
            </a:r>
            <a:endParaRPr lang="en-US" sz="950" dirty="0"/>
          </a:p>
        </p:txBody>
      </p:sp>
      <p:sp>
        <p:nvSpPr>
          <p:cNvPr id="20" name="Text 18"/>
          <p:cNvSpPr/>
          <p:nvPr/>
        </p:nvSpPr>
        <p:spPr>
          <a:xfrm>
            <a:off x="4663440" y="2011680"/>
            <a:ext cx="4206240" cy="292608"/>
          </a:xfrm>
          <a:prstGeom prst="rect">
            <a:avLst/>
          </a:prstGeom>
          <a:noFill/>
          <a:ln/>
        </p:spPr>
        <p:txBody>
          <a:bodyPr wrap="square" rtlCol="0" anchor="ctr"/>
          <a:lstStyle/>
          <a:p>
            <a:pPr marL="0" indent="0">
              <a:buNone/>
            </a:pPr>
            <a:r>
              <a:rPr lang="en-US" sz="1200" b="1" dirty="0">
                <a:solidFill>
                  <a:srgbClr val="2E7D32"/>
                </a:solidFill>
              </a:rPr>
              <a:t>What We Are Doing</a:t>
            </a:r>
            <a:endParaRPr lang="en-US" sz="1200" dirty="0"/>
          </a:p>
        </p:txBody>
      </p:sp>
      <p:sp>
        <p:nvSpPr>
          <p:cNvPr id="21" name="Shape 19"/>
          <p:cNvSpPr/>
          <p:nvPr/>
        </p:nvSpPr>
        <p:spPr>
          <a:xfrm>
            <a:off x="4663440" y="2359152"/>
            <a:ext cx="4206240" cy="384048"/>
          </a:xfrm>
          <a:prstGeom prst="rect">
            <a:avLst/>
          </a:prstGeom>
          <a:solidFill>
            <a:srgbClr val="E8F5E9"/>
          </a:solidFill>
          <a:ln w="12700">
            <a:solidFill>
              <a:srgbClr val="A5D6A7"/>
            </a:solidFill>
            <a:prstDash val="solid"/>
          </a:ln>
        </p:spPr>
      </p:sp>
      <p:sp>
        <p:nvSpPr>
          <p:cNvPr id="22" name="Shape 20"/>
          <p:cNvSpPr/>
          <p:nvPr/>
        </p:nvSpPr>
        <p:spPr>
          <a:xfrm>
            <a:off x="4663440" y="2359152"/>
            <a:ext cx="347472" cy="384048"/>
          </a:xfrm>
          <a:prstGeom prst="rect">
            <a:avLst/>
          </a:prstGeom>
          <a:solidFill>
            <a:srgbClr val="2E7D32"/>
          </a:solidFill>
          <a:ln w="12700">
            <a:solidFill>
              <a:srgbClr val="2E7D32"/>
            </a:solidFill>
            <a:prstDash val="solid"/>
          </a:ln>
        </p:spPr>
      </p:sp>
      <p:sp>
        <p:nvSpPr>
          <p:cNvPr id="23" name="Text 21"/>
          <p:cNvSpPr/>
          <p:nvPr/>
        </p:nvSpPr>
        <p:spPr>
          <a:xfrm>
            <a:off x="4663440" y="2359152"/>
            <a:ext cx="347472" cy="384048"/>
          </a:xfrm>
          <a:prstGeom prst="rect">
            <a:avLst/>
          </a:prstGeom>
          <a:noFill/>
          <a:ln/>
        </p:spPr>
        <p:txBody>
          <a:bodyPr wrap="square" rtlCol="0" anchor="ctr"/>
          <a:lstStyle/>
          <a:p>
            <a:pPr marL="0" indent="0" algn="ctr">
              <a:buNone/>
            </a:pPr>
            <a:r>
              <a:rPr lang="en-US" sz="900" b="1" dirty="0">
                <a:solidFill>
                  <a:srgbClr val="FFFFFF"/>
                </a:solidFill>
              </a:rPr>
              <a:t>01</a:t>
            </a:r>
            <a:endParaRPr lang="en-US" sz="900" dirty="0"/>
          </a:p>
        </p:txBody>
      </p:sp>
      <p:sp>
        <p:nvSpPr>
          <p:cNvPr id="24" name="Text 22"/>
          <p:cNvSpPr/>
          <p:nvPr/>
        </p:nvSpPr>
        <p:spPr>
          <a:xfrm>
            <a:off x="5074920" y="2423160"/>
            <a:ext cx="3749040" cy="274320"/>
          </a:xfrm>
          <a:prstGeom prst="rect">
            <a:avLst/>
          </a:prstGeom>
          <a:noFill/>
          <a:ln/>
        </p:spPr>
        <p:txBody>
          <a:bodyPr wrap="square" rtlCol="0" anchor="ctr"/>
          <a:lstStyle/>
          <a:p>
            <a:pPr marL="0" indent="0">
              <a:buNone/>
            </a:pPr>
            <a:r>
              <a:rPr lang="en-US" sz="950" dirty="0">
                <a:solidFill>
                  <a:srgbClr val="1C1C1C"/>
                </a:solidFill>
              </a:rPr>
              <a:t>Multi-city AQI analysis across 10+ Indian cities</a:t>
            </a:r>
            <a:endParaRPr lang="en-US" sz="950" dirty="0"/>
          </a:p>
        </p:txBody>
      </p:sp>
      <p:sp>
        <p:nvSpPr>
          <p:cNvPr id="25" name="Shape 23"/>
          <p:cNvSpPr/>
          <p:nvPr/>
        </p:nvSpPr>
        <p:spPr>
          <a:xfrm>
            <a:off x="4663440" y="2798064"/>
            <a:ext cx="4206240" cy="384048"/>
          </a:xfrm>
          <a:prstGeom prst="rect">
            <a:avLst/>
          </a:prstGeom>
          <a:solidFill>
            <a:srgbClr val="E8F5E9"/>
          </a:solidFill>
          <a:ln w="12700">
            <a:solidFill>
              <a:srgbClr val="A5D6A7"/>
            </a:solidFill>
            <a:prstDash val="solid"/>
          </a:ln>
        </p:spPr>
      </p:sp>
      <p:sp>
        <p:nvSpPr>
          <p:cNvPr id="26" name="Shape 24"/>
          <p:cNvSpPr/>
          <p:nvPr/>
        </p:nvSpPr>
        <p:spPr>
          <a:xfrm>
            <a:off x="4663440" y="2798064"/>
            <a:ext cx="347472" cy="384048"/>
          </a:xfrm>
          <a:prstGeom prst="rect">
            <a:avLst/>
          </a:prstGeom>
          <a:solidFill>
            <a:srgbClr val="2E7D32"/>
          </a:solidFill>
          <a:ln w="12700">
            <a:solidFill>
              <a:srgbClr val="2E7D32"/>
            </a:solidFill>
            <a:prstDash val="solid"/>
          </a:ln>
        </p:spPr>
      </p:sp>
      <p:sp>
        <p:nvSpPr>
          <p:cNvPr id="27" name="Text 25"/>
          <p:cNvSpPr/>
          <p:nvPr/>
        </p:nvSpPr>
        <p:spPr>
          <a:xfrm>
            <a:off x="4663440" y="2798064"/>
            <a:ext cx="347472" cy="384048"/>
          </a:xfrm>
          <a:prstGeom prst="rect">
            <a:avLst/>
          </a:prstGeom>
          <a:noFill/>
          <a:ln/>
        </p:spPr>
        <p:txBody>
          <a:bodyPr wrap="square" rtlCol="0" anchor="ctr"/>
          <a:lstStyle/>
          <a:p>
            <a:pPr marL="0" indent="0" algn="ctr">
              <a:buNone/>
            </a:pPr>
            <a:r>
              <a:rPr lang="en-US" sz="900" b="1" dirty="0">
                <a:solidFill>
                  <a:srgbClr val="FFFFFF"/>
                </a:solidFill>
              </a:rPr>
              <a:t>02</a:t>
            </a:r>
            <a:endParaRPr lang="en-US" sz="900" dirty="0"/>
          </a:p>
        </p:txBody>
      </p:sp>
      <p:sp>
        <p:nvSpPr>
          <p:cNvPr id="28" name="Text 26"/>
          <p:cNvSpPr/>
          <p:nvPr/>
        </p:nvSpPr>
        <p:spPr>
          <a:xfrm>
            <a:off x="5074920" y="2862072"/>
            <a:ext cx="3749040" cy="274320"/>
          </a:xfrm>
          <a:prstGeom prst="rect">
            <a:avLst/>
          </a:prstGeom>
          <a:noFill/>
          <a:ln/>
        </p:spPr>
        <p:txBody>
          <a:bodyPr wrap="square" rtlCol="0" anchor="ctr"/>
          <a:lstStyle/>
          <a:p>
            <a:pPr marL="0" indent="0">
              <a:buNone/>
            </a:pPr>
            <a:r>
              <a:rPr lang="en-US" sz="950" dirty="0">
                <a:solidFill>
                  <a:srgbClr val="1C1C1C"/>
                </a:solidFill>
              </a:rPr>
              <a:t>ML model to classify pollution-based health risk</a:t>
            </a:r>
            <a:endParaRPr lang="en-US" sz="950" dirty="0"/>
          </a:p>
        </p:txBody>
      </p:sp>
      <p:sp>
        <p:nvSpPr>
          <p:cNvPr id="29" name="Shape 27"/>
          <p:cNvSpPr/>
          <p:nvPr/>
        </p:nvSpPr>
        <p:spPr>
          <a:xfrm>
            <a:off x="4663440" y="3236976"/>
            <a:ext cx="4206240" cy="384048"/>
          </a:xfrm>
          <a:prstGeom prst="rect">
            <a:avLst/>
          </a:prstGeom>
          <a:solidFill>
            <a:srgbClr val="E8F5E9"/>
          </a:solidFill>
          <a:ln w="12700">
            <a:solidFill>
              <a:srgbClr val="A5D6A7"/>
            </a:solidFill>
            <a:prstDash val="solid"/>
          </a:ln>
        </p:spPr>
      </p:sp>
      <p:sp>
        <p:nvSpPr>
          <p:cNvPr id="30" name="Shape 28"/>
          <p:cNvSpPr/>
          <p:nvPr/>
        </p:nvSpPr>
        <p:spPr>
          <a:xfrm>
            <a:off x="4663440" y="3236976"/>
            <a:ext cx="347472" cy="384048"/>
          </a:xfrm>
          <a:prstGeom prst="rect">
            <a:avLst/>
          </a:prstGeom>
          <a:solidFill>
            <a:srgbClr val="2E7D32"/>
          </a:solidFill>
          <a:ln w="12700">
            <a:solidFill>
              <a:srgbClr val="2E7D32"/>
            </a:solidFill>
            <a:prstDash val="solid"/>
          </a:ln>
        </p:spPr>
      </p:sp>
      <p:sp>
        <p:nvSpPr>
          <p:cNvPr id="31" name="Text 29"/>
          <p:cNvSpPr/>
          <p:nvPr/>
        </p:nvSpPr>
        <p:spPr>
          <a:xfrm>
            <a:off x="4663440" y="3236976"/>
            <a:ext cx="347472" cy="384048"/>
          </a:xfrm>
          <a:prstGeom prst="rect">
            <a:avLst/>
          </a:prstGeom>
          <a:noFill/>
          <a:ln/>
        </p:spPr>
        <p:txBody>
          <a:bodyPr wrap="square" rtlCol="0" anchor="ctr"/>
          <a:lstStyle/>
          <a:p>
            <a:pPr marL="0" indent="0" algn="ctr">
              <a:buNone/>
            </a:pPr>
            <a:r>
              <a:rPr lang="en-US" sz="900" b="1" dirty="0">
                <a:solidFill>
                  <a:srgbClr val="FFFFFF"/>
                </a:solidFill>
              </a:rPr>
              <a:t>03</a:t>
            </a:r>
            <a:endParaRPr lang="en-US" sz="900" dirty="0"/>
          </a:p>
        </p:txBody>
      </p:sp>
      <p:sp>
        <p:nvSpPr>
          <p:cNvPr id="32" name="Text 30"/>
          <p:cNvSpPr/>
          <p:nvPr/>
        </p:nvSpPr>
        <p:spPr>
          <a:xfrm>
            <a:off x="5074920" y="3300984"/>
            <a:ext cx="3749040" cy="274320"/>
          </a:xfrm>
          <a:prstGeom prst="rect">
            <a:avLst/>
          </a:prstGeom>
          <a:noFill/>
          <a:ln/>
        </p:spPr>
        <p:txBody>
          <a:bodyPr wrap="square" rtlCol="0" anchor="ctr"/>
          <a:lstStyle/>
          <a:p>
            <a:pPr marL="0" indent="0">
              <a:buNone/>
            </a:pPr>
            <a:r>
              <a:rPr lang="en-US" sz="950" dirty="0">
                <a:solidFill>
                  <a:srgbClr val="1C1C1C"/>
                </a:solidFill>
              </a:rPr>
              <a:t>Interactive Streamlit dashboard for visualization</a:t>
            </a:r>
            <a:endParaRPr lang="en-US" sz="950" dirty="0"/>
          </a:p>
        </p:txBody>
      </p:sp>
      <p:sp>
        <p:nvSpPr>
          <p:cNvPr id="33" name="Shape 31"/>
          <p:cNvSpPr/>
          <p:nvPr/>
        </p:nvSpPr>
        <p:spPr>
          <a:xfrm>
            <a:off x="4663440" y="3675888"/>
            <a:ext cx="4206240" cy="384048"/>
          </a:xfrm>
          <a:prstGeom prst="rect">
            <a:avLst/>
          </a:prstGeom>
          <a:solidFill>
            <a:srgbClr val="E8F5E9"/>
          </a:solidFill>
          <a:ln w="12700">
            <a:solidFill>
              <a:srgbClr val="A5D6A7"/>
            </a:solidFill>
            <a:prstDash val="solid"/>
          </a:ln>
        </p:spPr>
      </p:sp>
      <p:sp>
        <p:nvSpPr>
          <p:cNvPr id="34" name="Shape 32"/>
          <p:cNvSpPr/>
          <p:nvPr/>
        </p:nvSpPr>
        <p:spPr>
          <a:xfrm>
            <a:off x="4663440" y="3675888"/>
            <a:ext cx="347472" cy="384048"/>
          </a:xfrm>
          <a:prstGeom prst="rect">
            <a:avLst/>
          </a:prstGeom>
          <a:solidFill>
            <a:srgbClr val="2E7D32"/>
          </a:solidFill>
          <a:ln w="12700">
            <a:solidFill>
              <a:srgbClr val="2E7D32"/>
            </a:solidFill>
            <a:prstDash val="solid"/>
          </a:ln>
        </p:spPr>
      </p:sp>
      <p:sp>
        <p:nvSpPr>
          <p:cNvPr id="35" name="Text 33"/>
          <p:cNvSpPr/>
          <p:nvPr/>
        </p:nvSpPr>
        <p:spPr>
          <a:xfrm>
            <a:off x="4663440" y="3675888"/>
            <a:ext cx="347472" cy="384048"/>
          </a:xfrm>
          <a:prstGeom prst="rect">
            <a:avLst/>
          </a:prstGeom>
          <a:noFill/>
          <a:ln/>
        </p:spPr>
        <p:txBody>
          <a:bodyPr wrap="square" rtlCol="0" anchor="ctr"/>
          <a:lstStyle/>
          <a:p>
            <a:pPr marL="0" indent="0" algn="ctr">
              <a:buNone/>
            </a:pPr>
            <a:r>
              <a:rPr lang="en-US" sz="900" b="1" dirty="0">
                <a:solidFill>
                  <a:srgbClr val="FFFFFF"/>
                </a:solidFill>
              </a:rPr>
              <a:t>04</a:t>
            </a:r>
            <a:endParaRPr lang="en-US" sz="900" dirty="0"/>
          </a:p>
        </p:txBody>
      </p:sp>
      <p:sp>
        <p:nvSpPr>
          <p:cNvPr id="36" name="Text 34"/>
          <p:cNvSpPr/>
          <p:nvPr/>
        </p:nvSpPr>
        <p:spPr>
          <a:xfrm>
            <a:off x="5074920" y="3739896"/>
            <a:ext cx="3749040" cy="274320"/>
          </a:xfrm>
          <a:prstGeom prst="rect">
            <a:avLst/>
          </a:prstGeom>
          <a:noFill/>
          <a:ln/>
        </p:spPr>
        <p:txBody>
          <a:bodyPr wrap="square" rtlCol="0" anchor="ctr"/>
          <a:lstStyle/>
          <a:p>
            <a:pPr marL="0" indent="0">
              <a:buNone/>
            </a:pPr>
            <a:r>
              <a:rPr lang="en-US" sz="950" dirty="0">
                <a:solidFill>
                  <a:srgbClr val="1C1C1C"/>
                </a:solidFill>
              </a:rPr>
              <a:t>Future: real-time data + 7-day AQI forecasting</a:t>
            </a:r>
            <a:endParaRPr lang="en-US" sz="950" dirty="0"/>
          </a:p>
        </p:txBody>
      </p:sp>
      <p:sp>
        <p:nvSpPr>
          <p:cNvPr id="37" name="Shape 35"/>
          <p:cNvSpPr/>
          <p:nvPr/>
        </p:nvSpPr>
        <p:spPr>
          <a:xfrm>
            <a:off x="4663440" y="4114800"/>
            <a:ext cx="4206240" cy="384048"/>
          </a:xfrm>
          <a:prstGeom prst="rect">
            <a:avLst/>
          </a:prstGeom>
          <a:solidFill>
            <a:srgbClr val="E8F5E9"/>
          </a:solidFill>
          <a:ln w="12700">
            <a:solidFill>
              <a:srgbClr val="A5D6A7"/>
            </a:solidFill>
            <a:prstDash val="solid"/>
          </a:ln>
        </p:spPr>
      </p:sp>
      <p:sp>
        <p:nvSpPr>
          <p:cNvPr id="38" name="Shape 36"/>
          <p:cNvSpPr/>
          <p:nvPr/>
        </p:nvSpPr>
        <p:spPr>
          <a:xfrm>
            <a:off x="4663440" y="4114800"/>
            <a:ext cx="347472" cy="384048"/>
          </a:xfrm>
          <a:prstGeom prst="rect">
            <a:avLst/>
          </a:prstGeom>
          <a:solidFill>
            <a:srgbClr val="2E7D32"/>
          </a:solidFill>
          <a:ln w="12700">
            <a:solidFill>
              <a:srgbClr val="2E7D32"/>
            </a:solidFill>
            <a:prstDash val="solid"/>
          </a:ln>
        </p:spPr>
      </p:sp>
      <p:sp>
        <p:nvSpPr>
          <p:cNvPr id="39" name="Text 37"/>
          <p:cNvSpPr/>
          <p:nvPr/>
        </p:nvSpPr>
        <p:spPr>
          <a:xfrm>
            <a:off x="4663440" y="4114800"/>
            <a:ext cx="347472" cy="384048"/>
          </a:xfrm>
          <a:prstGeom prst="rect">
            <a:avLst/>
          </a:prstGeom>
          <a:noFill/>
          <a:ln/>
        </p:spPr>
        <p:txBody>
          <a:bodyPr wrap="square" rtlCol="0" anchor="ctr"/>
          <a:lstStyle/>
          <a:p>
            <a:pPr marL="0" indent="0" algn="ctr">
              <a:buNone/>
            </a:pPr>
            <a:r>
              <a:rPr lang="en-US" sz="900" b="1" dirty="0">
                <a:solidFill>
                  <a:srgbClr val="FFFFFF"/>
                </a:solidFill>
              </a:rPr>
              <a:t>05</a:t>
            </a:r>
            <a:endParaRPr lang="en-US" sz="900" dirty="0"/>
          </a:p>
        </p:txBody>
      </p:sp>
      <p:sp>
        <p:nvSpPr>
          <p:cNvPr id="40" name="Text 38"/>
          <p:cNvSpPr/>
          <p:nvPr/>
        </p:nvSpPr>
        <p:spPr>
          <a:xfrm>
            <a:off x="5074920" y="4178808"/>
            <a:ext cx="3749040" cy="274320"/>
          </a:xfrm>
          <a:prstGeom prst="rect">
            <a:avLst/>
          </a:prstGeom>
          <a:noFill/>
          <a:ln/>
        </p:spPr>
        <p:txBody>
          <a:bodyPr wrap="square" rtlCol="0" anchor="ctr"/>
          <a:lstStyle/>
          <a:p>
            <a:pPr marL="0" indent="0">
              <a:buNone/>
            </a:pPr>
            <a:r>
              <a:rPr lang="en-US" sz="950" dirty="0">
                <a:solidFill>
                  <a:srgbClr val="1C1C1C"/>
                </a:solidFill>
              </a:rPr>
              <a:t>Deep learning (LSTM, XGBoost) for better accuracy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5E20"/>
          </a:solidFill>
          <a:ln w="12700">
            <a:solidFill>
              <a:srgbClr val="1B5E20"/>
            </a:solidFill>
            <a:prstDash val="solid"/>
          </a:ln>
        </p:spPr>
      </p:sp>
      <p:sp>
        <p:nvSpPr>
          <p:cNvPr id="3" name="Text 1"/>
          <p:cNvSpPr/>
          <p:nvPr/>
        </p:nvSpPr>
        <p:spPr>
          <a:xfrm>
            <a:off x="320040" y="0"/>
            <a:ext cx="8503920" cy="502920"/>
          </a:xfrm>
          <a:prstGeom prst="rect">
            <a:avLst/>
          </a:prstGeom>
          <a:noFill/>
          <a:ln/>
        </p:spPr>
        <p:txBody>
          <a:bodyPr wrap="square" rtlCol="0" anchor="ctr"/>
          <a:lstStyle/>
          <a:p>
            <a:pPr marL="0" indent="0">
              <a:buNone/>
            </a:pPr>
            <a:endParaRPr lang="en-US" sz="1000" dirty="0"/>
          </a:p>
        </p:txBody>
      </p:sp>
      <p:sp>
        <p:nvSpPr>
          <p:cNvPr id="4" name="Text 2"/>
          <p:cNvSpPr/>
          <p:nvPr/>
        </p:nvSpPr>
        <p:spPr>
          <a:xfrm rot="10800000" flipV="1">
            <a:off x="87923" y="9144"/>
            <a:ext cx="8503920" cy="502920"/>
          </a:xfrm>
          <a:prstGeom prst="rect">
            <a:avLst/>
          </a:prstGeom>
          <a:noFill/>
          <a:ln/>
        </p:spPr>
        <p:txBody>
          <a:bodyPr wrap="square" rtlCol="0" anchor="ctr"/>
          <a:lstStyle/>
          <a:p>
            <a:pPr marL="0" indent="0">
              <a:buNone/>
            </a:pPr>
            <a:r>
              <a:rPr lang="en-US" sz="2000" b="1" dirty="0">
                <a:solidFill>
                  <a:srgbClr val="1C1C1C"/>
                </a:solidFill>
              </a:rPr>
              <a:t>Proposed Methodology</a:t>
            </a:r>
            <a:endParaRPr lang="en-US" sz="2000" dirty="0"/>
          </a:p>
        </p:txBody>
      </p:sp>
      <p:pic>
        <p:nvPicPr>
          <p:cNvPr id="5" name="Image 0" descr="/home/claude/fig_methodology.png"/>
          <p:cNvPicPr>
            <a:picLocks noChangeAspect="1"/>
          </p:cNvPicPr>
          <p:nvPr/>
        </p:nvPicPr>
        <p:blipFill>
          <a:blip r:embed="rId3"/>
          <a:stretch>
            <a:fillRect/>
          </a:stretch>
        </p:blipFill>
        <p:spPr>
          <a:xfrm>
            <a:off x="274320" y="1051560"/>
            <a:ext cx="3291840" cy="3840480"/>
          </a:xfrm>
          <a:prstGeom prst="rect">
            <a:avLst/>
          </a:prstGeom>
        </p:spPr>
      </p:pic>
      <p:sp>
        <p:nvSpPr>
          <p:cNvPr id="6" name="Shape 3"/>
          <p:cNvSpPr/>
          <p:nvPr/>
        </p:nvSpPr>
        <p:spPr>
          <a:xfrm>
            <a:off x="3794760" y="1078992"/>
            <a:ext cx="384048" cy="384048"/>
          </a:xfrm>
          <a:prstGeom prst="rect">
            <a:avLst/>
          </a:prstGeom>
          <a:solidFill>
            <a:srgbClr val="2E7D32"/>
          </a:solidFill>
          <a:ln w="12700">
            <a:solidFill>
              <a:srgbClr val="2E7D32"/>
            </a:solidFill>
            <a:prstDash val="solid"/>
          </a:ln>
        </p:spPr>
      </p:sp>
      <p:sp>
        <p:nvSpPr>
          <p:cNvPr id="7" name="Text 4"/>
          <p:cNvSpPr/>
          <p:nvPr/>
        </p:nvSpPr>
        <p:spPr>
          <a:xfrm>
            <a:off x="3794760" y="1078992"/>
            <a:ext cx="384048" cy="384048"/>
          </a:xfrm>
          <a:prstGeom prst="rect">
            <a:avLst/>
          </a:prstGeom>
          <a:noFill/>
          <a:ln/>
        </p:spPr>
        <p:txBody>
          <a:bodyPr wrap="square" rtlCol="0" anchor="ctr"/>
          <a:lstStyle/>
          <a:p>
            <a:pPr marL="0" indent="0" algn="ctr">
              <a:buNone/>
            </a:pPr>
            <a:r>
              <a:rPr lang="en-US" sz="950" b="1" dirty="0">
                <a:solidFill>
                  <a:srgbClr val="FFFFFF"/>
                </a:solidFill>
              </a:rPr>
              <a:t>01</a:t>
            </a:r>
            <a:endParaRPr lang="en-US" sz="950" dirty="0"/>
          </a:p>
        </p:txBody>
      </p:sp>
      <p:sp>
        <p:nvSpPr>
          <p:cNvPr id="8" name="Text 5"/>
          <p:cNvSpPr/>
          <p:nvPr/>
        </p:nvSpPr>
        <p:spPr>
          <a:xfrm>
            <a:off x="4251960" y="1088136"/>
            <a:ext cx="4663440" cy="201168"/>
          </a:xfrm>
          <a:prstGeom prst="rect">
            <a:avLst/>
          </a:prstGeom>
          <a:noFill/>
          <a:ln/>
        </p:spPr>
        <p:txBody>
          <a:bodyPr wrap="square" rtlCol="0" anchor="ctr"/>
          <a:lstStyle/>
          <a:p>
            <a:pPr marL="0" indent="0">
              <a:buNone/>
            </a:pPr>
            <a:r>
              <a:rPr lang="en-US" sz="1100" b="1" dirty="0">
                <a:solidFill>
                  <a:srgbClr val="1C1C1C"/>
                </a:solidFill>
              </a:rPr>
              <a:t>Data Collection</a:t>
            </a:r>
            <a:endParaRPr lang="en-US" sz="1100" dirty="0"/>
          </a:p>
        </p:txBody>
      </p:sp>
      <p:sp>
        <p:nvSpPr>
          <p:cNvPr id="9" name="Text 6"/>
          <p:cNvSpPr/>
          <p:nvPr/>
        </p:nvSpPr>
        <p:spPr>
          <a:xfrm>
            <a:off x="4251960" y="1280160"/>
            <a:ext cx="4663440" cy="182880"/>
          </a:xfrm>
          <a:prstGeom prst="rect">
            <a:avLst/>
          </a:prstGeom>
          <a:noFill/>
          <a:ln/>
        </p:spPr>
        <p:txBody>
          <a:bodyPr wrap="square" rtlCol="0" anchor="ctr"/>
          <a:lstStyle/>
          <a:p>
            <a:pPr marL="0" indent="0">
              <a:buNone/>
            </a:pPr>
            <a:r>
              <a:rPr lang="en-US" sz="900" dirty="0">
                <a:solidFill>
                  <a:srgbClr val="616161"/>
                </a:solidFill>
              </a:rPr>
              <a:t>CPCB air quality , weather data, 28 Indian cities, 2022–2025</a:t>
            </a:r>
            <a:endParaRPr lang="en-US" sz="900" dirty="0"/>
          </a:p>
        </p:txBody>
      </p:sp>
      <p:sp>
        <p:nvSpPr>
          <p:cNvPr id="10" name="Shape 7"/>
          <p:cNvSpPr/>
          <p:nvPr/>
        </p:nvSpPr>
        <p:spPr>
          <a:xfrm>
            <a:off x="3794760" y="1618488"/>
            <a:ext cx="384048" cy="384048"/>
          </a:xfrm>
          <a:prstGeom prst="rect">
            <a:avLst/>
          </a:prstGeom>
          <a:solidFill>
            <a:srgbClr val="2E7D32"/>
          </a:solidFill>
          <a:ln w="12700">
            <a:solidFill>
              <a:srgbClr val="2E7D32"/>
            </a:solidFill>
            <a:prstDash val="solid"/>
          </a:ln>
        </p:spPr>
      </p:sp>
      <p:sp>
        <p:nvSpPr>
          <p:cNvPr id="11" name="Text 8"/>
          <p:cNvSpPr/>
          <p:nvPr/>
        </p:nvSpPr>
        <p:spPr>
          <a:xfrm>
            <a:off x="3794760" y="1618488"/>
            <a:ext cx="384048" cy="384048"/>
          </a:xfrm>
          <a:prstGeom prst="rect">
            <a:avLst/>
          </a:prstGeom>
          <a:noFill/>
          <a:ln/>
        </p:spPr>
        <p:txBody>
          <a:bodyPr wrap="square" rtlCol="0" anchor="ctr"/>
          <a:lstStyle/>
          <a:p>
            <a:pPr marL="0" indent="0" algn="ctr">
              <a:buNone/>
            </a:pPr>
            <a:r>
              <a:rPr lang="en-US" sz="950" b="1" dirty="0">
                <a:solidFill>
                  <a:srgbClr val="FFFFFF"/>
                </a:solidFill>
              </a:rPr>
              <a:t>02</a:t>
            </a:r>
            <a:endParaRPr lang="en-US" sz="950" dirty="0"/>
          </a:p>
        </p:txBody>
      </p:sp>
      <p:sp>
        <p:nvSpPr>
          <p:cNvPr id="12" name="Text 9"/>
          <p:cNvSpPr/>
          <p:nvPr/>
        </p:nvSpPr>
        <p:spPr>
          <a:xfrm>
            <a:off x="4251960" y="1627632"/>
            <a:ext cx="4663440" cy="201168"/>
          </a:xfrm>
          <a:prstGeom prst="rect">
            <a:avLst/>
          </a:prstGeom>
          <a:noFill/>
          <a:ln/>
        </p:spPr>
        <p:txBody>
          <a:bodyPr wrap="square" rtlCol="0" anchor="ctr"/>
          <a:lstStyle/>
          <a:p>
            <a:pPr marL="0" indent="0">
              <a:buNone/>
            </a:pPr>
            <a:r>
              <a:rPr lang="en-US" sz="1100" b="1" dirty="0">
                <a:solidFill>
                  <a:srgbClr val="1C1C1C"/>
                </a:solidFill>
              </a:rPr>
              <a:t>Data Preprocessing</a:t>
            </a:r>
            <a:endParaRPr lang="en-US" sz="1100" dirty="0"/>
          </a:p>
        </p:txBody>
      </p:sp>
      <p:sp>
        <p:nvSpPr>
          <p:cNvPr id="13" name="Text 10"/>
          <p:cNvSpPr/>
          <p:nvPr/>
        </p:nvSpPr>
        <p:spPr>
          <a:xfrm>
            <a:off x="4251960" y="1819656"/>
            <a:ext cx="4663440" cy="182880"/>
          </a:xfrm>
          <a:prstGeom prst="rect">
            <a:avLst/>
          </a:prstGeom>
          <a:noFill/>
          <a:ln/>
        </p:spPr>
        <p:txBody>
          <a:bodyPr wrap="square" rtlCol="0" anchor="ctr"/>
          <a:lstStyle/>
          <a:p>
            <a:pPr marL="0" indent="0">
              <a:buNone/>
            </a:pPr>
            <a:r>
              <a:rPr lang="en-US" sz="900" dirty="0">
                <a:solidFill>
                  <a:srgbClr val="616161"/>
                </a:solidFill>
              </a:rPr>
              <a:t>Null removal, duplicate drop, datetime parsing, feature engineering</a:t>
            </a:r>
            <a:endParaRPr lang="en-US" sz="900" dirty="0"/>
          </a:p>
        </p:txBody>
      </p:sp>
      <p:sp>
        <p:nvSpPr>
          <p:cNvPr id="14" name="Shape 11"/>
          <p:cNvSpPr/>
          <p:nvPr/>
        </p:nvSpPr>
        <p:spPr>
          <a:xfrm>
            <a:off x="3794760" y="2157984"/>
            <a:ext cx="384048" cy="384048"/>
          </a:xfrm>
          <a:prstGeom prst="rect">
            <a:avLst/>
          </a:prstGeom>
          <a:solidFill>
            <a:srgbClr val="2E7D32"/>
          </a:solidFill>
          <a:ln w="12700">
            <a:solidFill>
              <a:srgbClr val="2E7D32"/>
            </a:solidFill>
            <a:prstDash val="solid"/>
          </a:ln>
        </p:spPr>
      </p:sp>
      <p:sp>
        <p:nvSpPr>
          <p:cNvPr id="15" name="Text 12"/>
          <p:cNvSpPr/>
          <p:nvPr/>
        </p:nvSpPr>
        <p:spPr>
          <a:xfrm>
            <a:off x="3794760" y="2157984"/>
            <a:ext cx="384048" cy="384048"/>
          </a:xfrm>
          <a:prstGeom prst="rect">
            <a:avLst/>
          </a:prstGeom>
          <a:noFill/>
          <a:ln/>
        </p:spPr>
        <p:txBody>
          <a:bodyPr wrap="square" rtlCol="0" anchor="ctr"/>
          <a:lstStyle/>
          <a:p>
            <a:pPr marL="0" indent="0" algn="ctr">
              <a:buNone/>
            </a:pPr>
            <a:r>
              <a:rPr lang="en-US" sz="950" b="1" dirty="0">
                <a:solidFill>
                  <a:srgbClr val="FFFFFF"/>
                </a:solidFill>
              </a:rPr>
              <a:t>03</a:t>
            </a:r>
            <a:endParaRPr lang="en-US" sz="950" dirty="0"/>
          </a:p>
        </p:txBody>
      </p:sp>
      <p:sp>
        <p:nvSpPr>
          <p:cNvPr id="16" name="Text 13"/>
          <p:cNvSpPr/>
          <p:nvPr/>
        </p:nvSpPr>
        <p:spPr>
          <a:xfrm>
            <a:off x="4251960" y="2167128"/>
            <a:ext cx="4663440" cy="201168"/>
          </a:xfrm>
          <a:prstGeom prst="rect">
            <a:avLst/>
          </a:prstGeom>
          <a:noFill/>
          <a:ln/>
        </p:spPr>
        <p:txBody>
          <a:bodyPr wrap="square" rtlCol="0" anchor="ctr"/>
          <a:lstStyle/>
          <a:p>
            <a:pPr marL="0" indent="0">
              <a:buNone/>
            </a:pPr>
            <a:r>
              <a:rPr lang="en-US" sz="1100" b="1" dirty="0">
                <a:solidFill>
                  <a:srgbClr val="1C1C1C"/>
                </a:solidFill>
              </a:rPr>
              <a:t>EDA &amp; Dashboard</a:t>
            </a:r>
            <a:endParaRPr lang="en-US" sz="1100" dirty="0"/>
          </a:p>
        </p:txBody>
      </p:sp>
      <p:sp>
        <p:nvSpPr>
          <p:cNvPr id="17" name="Text 14"/>
          <p:cNvSpPr/>
          <p:nvPr/>
        </p:nvSpPr>
        <p:spPr>
          <a:xfrm>
            <a:off x="4251960" y="2359152"/>
            <a:ext cx="4663440" cy="182880"/>
          </a:xfrm>
          <a:prstGeom prst="rect">
            <a:avLst/>
          </a:prstGeom>
          <a:noFill/>
          <a:ln/>
        </p:spPr>
        <p:txBody>
          <a:bodyPr wrap="square" rtlCol="0" anchor="ctr"/>
          <a:lstStyle/>
          <a:p>
            <a:pPr marL="0" indent="0">
              <a:buNone/>
            </a:pPr>
            <a:r>
              <a:rPr lang="en-US" sz="900" dirty="0">
                <a:solidFill>
                  <a:srgbClr val="616161"/>
                </a:solidFill>
              </a:rPr>
              <a:t>Historical AQI trends, city comparisons, pollution visualizations</a:t>
            </a:r>
            <a:endParaRPr lang="en-US" sz="900" dirty="0"/>
          </a:p>
        </p:txBody>
      </p:sp>
      <p:sp>
        <p:nvSpPr>
          <p:cNvPr id="18" name="Shape 15"/>
          <p:cNvSpPr/>
          <p:nvPr/>
        </p:nvSpPr>
        <p:spPr>
          <a:xfrm>
            <a:off x="3794760" y="2697480"/>
            <a:ext cx="384048" cy="384048"/>
          </a:xfrm>
          <a:prstGeom prst="rect">
            <a:avLst/>
          </a:prstGeom>
          <a:solidFill>
            <a:srgbClr val="2E7D32"/>
          </a:solidFill>
          <a:ln w="12700">
            <a:solidFill>
              <a:srgbClr val="2E7D32"/>
            </a:solidFill>
            <a:prstDash val="solid"/>
          </a:ln>
        </p:spPr>
      </p:sp>
      <p:sp>
        <p:nvSpPr>
          <p:cNvPr id="19" name="Text 16"/>
          <p:cNvSpPr/>
          <p:nvPr/>
        </p:nvSpPr>
        <p:spPr>
          <a:xfrm>
            <a:off x="3794760" y="2697480"/>
            <a:ext cx="384048" cy="384048"/>
          </a:xfrm>
          <a:prstGeom prst="rect">
            <a:avLst/>
          </a:prstGeom>
          <a:noFill/>
          <a:ln/>
        </p:spPr>
        <p:txBody>
          <a:bodyPr wrap="square" rtlCol="0" anchor="ctr"/>
          <a:lstStyle/>
          <a:p>
            <a:pPr marL="0" indent="0" algn="ctr">
              <a:buNone/>
            </a:pPr>
            <a:r>
              <a:rPr lang="en-US" sz="950" b="1" dirty="0">
                <a:solidFill>
                  <a:srgbClr val="FFFFFF"/>
                </a:solidFill>
              </a:rPr>
              <a:t>04</a:t>
            </a:r>
            <a:endParaRPr lang="en-US" sz="950" dirty="0"/>
          </a:p>
        </p:txBody>
      </p:sp>
      <p:sp>
        <p:nvSpPr>
          <p:cNvPr id="20" name="Text 17"/>
          <p:cNvSpPr/>
          <p:nvPr/>
        </p:nvSpPr>
        <p:spPr>
          <a:xfrm>
            <a:off x="4251960" y="2706624"/>
            <a:ext cx="4663440" cy="201168"/>
          </a:xfrm>
          <a:prstGeom prst="rect">
            <a:avLst/>
          </a:prstGeom>
          <a:noFill/>
          <a:ln/>
        </p:spPr>
        <p:txBody>
          <a:bodyPr wrap="square" rtlCol="0" anchor="ctr"/>
          <a:lstStyle/>
          <a:p>
            <a:pPr marL="0" indent="0">
              <a:buNone/>
            </a:pPr>
            <a:r>
              <a:rPr lang="en-US" sz="1100" b="1" dirty="0">
                <a:solidFill>
                  <a:srgbClr val="1C1C1C"/>
                </a:solidFill>
              </a:rPr>
              <a:t>Feature Selection</a:t>
            </a:r>
            <a:endParaRPr lang="en-US" sz="1100" dirty="0"/>
          </a:p>
        </p:txBody>
      </p:sp>
      <p:sp>
        <p:nvSpPr>
          <p:cNvPr id="21" name="Text 18"/>
          <p:cNvSpPr/>
          <p:nvPr/>
        </p:nvSpPr>
        <p:spPr>
          <a:xfrm>
            <a:off x="4251960" y="2898648"/>
            <a:ext cx="4663440" cy="182880"/>
          </a:xfrm>
          <a:prstGeom prst="rect">
            <a:avLst/>
          </a:prstGeom>
          <a:noFill/>
          <a:ln/>
        </p:spPr>
        <p:txBody>
          <a:bodyPr wrap="square" rtlCol="0" anchor="ctr"/>
          <a:lstStyle/>
          <a:p>
            <a:pPr marL="0" indent="0">
              <a:buNone/>
            </a:pPr>
            <a:r>
              <a:rPr lang="en-US" sz="900" dirty="0">
                <a:solidFill>
                  <a:srgbClr val="616161"/>
                </a:solidFill>
              </a:rPr>
              <a:t>Pollutants (PM2.5, PM10, NO2, SO2), weather, time &amp; special features</a:t>
            </a:r>
            <a:endParaRPr lang="en-US" sz="900" dirty="0"/>
          </a:p>
        </p:txBody>
      </p:sp>
      <p:sp>
        <p:nvSpPr>
          <p:cNvPr id="22" name="Shape 19"/>
          <p:cNvSpPr/>
          <p:nvPr/>
        </p:nvSpPr>
        <p:spPr>
          <a:xfrm>
            <a:off x="3794760" y="3236976"/>
            <a:ext cx="384048" cy="384048"/>
          </a:xfrm>
          <a:prstGeom prst="rect">
            <a:avLst/>
          </a:prstGeom>
          <a:solidFill>
            <a:srgbClr val="2E7D32"/>
          </a:solidFill>
          <a:ln w="12700">
            <a:solidFill>
              <a:srgbClr val="2E7D32"/>
            </a:solidFill>
            <a:prstDash val="solid"/>
          </a:ln>
        </p:spPr>
      </p:sp>
      <p:sp>
        <p:nvSpPr>
          <p:cNvPr id="23" name="Text 20"/>
          <p:cNvSpPr/>
          <p:nvPr/>
        </p:nvSpPr>
        <p:spPr>
          <a:xfrm>
            <a:off x="3794760" y="3236976"/>
            <a:ext cx="384048" cy="384048"/>
          </a:xfrm>
          <a:prstGeom prst="rect">
            <a:avLst/>
          </a:prstGeom>
          <a:noFill/>
          <a:ln/>
        </p:spPr>
        <p:txBody>
          <a:bodyPr wrap="square" rtlCol="0" anchor="ctr"/>
          <a:lstStyle/>
          <a:p>
            <a:pPr marL="0" indent="0" algn="ctr">
              <a:buNone/>
            </a:pPr>
            <a:r>
              <a:rPr lang="en-US" sz="950" b="1" dirty="0">
                <a:solidFill>
                  <a:srgbClr val="FFFFFF"/>
                </a:solidFill>
              </a:rPr>
              <a:t>05</a:t>
            </a:r>
            <a:endParaRPr lang="en-US" sz="950" dirty="0"/>
          </a:p>
        </p:txBody>
      </p:sp>
      <p:sp>
        <p:nvSpPr>
          <p:cNvPr id="24" name="Text 21"/>
          <p:cNvSpPr/>
          <p:nvPr/>
        </p:nvSpPr>
        <p:spPr>
          <a:xfrm>
            <a:off x="4251960" y="3246120"/>
            <a:ext cx="4663440" cy="201168"/>
          </a:xfrm>
          <a:prstGeom prst="rect">
            <a:avLst/>
          </a:prstGeom>
          <a:noFill/>
          <a:ln/>
        </p:spPr>
        <p:txBody>
          <a:bodyPr wrap="square" rtlCol="0" anchor="ctr"/>
          <a:lstStyle/>
          <a:p>
            <a:pPr marL="0" indent="0">
              <a:buNone/>
            </a:pPr>
            <a:r>
              <a:rPr lang="en-US" sz="1100" b="1" dirty="0">
                <a:solidFill>
                  <a:srgbClr val="1C1C1C"/>
                </a:solidFill>
              </a:rPr>
              <a:t>ML Model — Random Forest</a:t>
            </a:r>
            <a:endParaRPr lang="en-US" sz="1100" dirty="0"/>
          </a:p>
        </p:txBody>
      </p:sp>
      <p:sp>
        <p:nvSpPr>
          <p:cNvPr id="25" name="Text 22"/>
          <p:cNvSpPr/>
          <p:nvPr/>
        </p:nvSpPr>
        <p:spPr>
          <a:xfrm>
            <a:off x="4251960" y="3438144"/>
            <a:ext cx="4663440" cy="182880"/>
          </a:xfrm>
          <a:prstGeom prst="rect">
            <a:avLst/>
          </a:prstGeom>
          <a:noFill/>
          <a:ln/>
        </p:spPr>
        <p:txBody>
          <a:bodyPr wrap="square" rtlCol="0" anchor="ctr"/>
          <a:lstStyle/>
          <a:p>
            <a:pPr marL="0" indent="0">
              <a:buNone/>
            </a:pPr>
            <a:r>
              <a:rPr lang="en-US" sz="900" dirty="0">
                <a:solidFill>
                  <a:srgbClr val="616161"/>
                </a:solidFill>
              </a:rPr>
              <a:t>Ensemble classifier trained to predict AQI health risk category</a:t>
            </a:r>
            <a:endParaRPr lang="en-US" sz="900" dirty="0"/>
          </a:p>
        </p:txBody>
      </p:sp>
      <p:sp>
        <p:nvSpPr>
          <p:cNvPr id="26" name="Shape 23"/>
          <p:cNvSpPr/>
          <p:nvPr/>
        </p:nvSpPr>
        <p:spPr>
          <a:xfrm>
            <a:off x="3794760" y="3776472"/>
            <a:ext cx="384048" cy="384048"/>
          </a:xfrm>
          <a:prstGeom prst="rect">
            <a:avLst/>
          </a:prstGeom>
          <a:solidFill>
            <a:srgbClr val="2E7D32"/>
          </a:solidFill>
          <a:ln w="12700">
            <a:solidFill>
              <a:srgbClr val="2E7D32"/>
            </a:solidFill>
            <a:prstDash val="solid"/>
          </a:ln>
        </p:spPr>
      </p:sp>
      <p:sp>
        <p:nvSpPr>
          <p:cNvPr id="27" name="Text 24"/>
          <p:cNvSpPr/>
          <p:nvPr/>
        </p:nvSpPr>
        <p:spPr>
          <a:xfrm>
            <a:off x="3794760" y="3776472"/>
            <a:ext cx="384048" cy="384048"/>
          </a:xfrm>
          <a:prstGeom prst="rect">
            <a:avLst/>
          </a:prstGeom>
          <a:noFill/>
          <a:ln/>
        </p:spPr>
        <p:txBody>
          <a:bodyPr wrap="square" rtlCol="0" anchor="ctr"/>
          <a:lstStyle/>
          <a:p>
            <a:pPr marL="0" indent="0" algn="ctr">
              <a:buNone/>
            </a:pPr>
            <a:r>
              <a:rPr lang="en-US" sz="950" b="1" dirty="0">
                <a:solidFill>
                  <a:srgbClr val="FFFFFF"/>
                </a:solidFill>
              </a:rPr>
              <a:t>06</a:t>
            </a:r>
            <a:endParaRPr lang="en-US" sz="950" dirty="0"/>
          </a:p>
        </p:txBody>
      </p:sp>
      <p:sp>
        <p:nvSpPr>
          <p:cNvPr id="28" name="Text 25"/>
          <p:cNvSpPr/>
          <p:nvPr/>
        </p:nvSpPr>
        <p:spPr>
          <a:xfrm>
            <a:off x="4251960" y="3785616"/>
            <a:ext cx="4663440" cy="201168"/>
          </a:xfrm>
          <a:prstGeom prst="rect">
            <a:avLst/>
          </a:prstGeom>
          <a:noFill/>
          <a:ln/>
        </p:spPr>
        <p:txBody>
          <a:bodyPr wrap="square" rtlCol="0" anchor="ctr"/>
          <a:lstStyle/>
          <a:p>
            <a:pPr marL="0" indent="0">
              <a:buNone/>
            </a:pPr>
            <a:r>
              <a:rPr lang="en-US" sz="1100" b="1" dirty="0">
                <a:solidFill>
                  <a:srgbClr val="1C1C1C"/>
                </a:solidFill>
              </a:rPr>
              <a:t>Health Risk Assessment</a:t>
            </a:r>
            <a:endParaRPr lang="en-US" sz="1100" dirty="0"/>
          </a:p>
        </p:txBody>
      </p:sp>
      <p:sp>
        <p:nvSpPr>
          <p:cNvPr id="29" name="Text 26"/>
          <p:cNvSpPr/>
          <p:nvPr/>
        </p:nvSpPr>
        <p:spPr>
          <a:xfrm>
            <a:off x="4251960" y="3977640"/>
            <a:ext cx="4663440" cy="182880"/>
          </a:xfrm>
          <a:prstGeom prst="rect">
            <a:avLst/>
          </a:prstGeom>
          <a:noFill/>
          <a:ln/>
        </p:spPr>
        <p:txBody>
          <a:bodyPr wrap="square" rtlCol="0" anchor="ctr"/>
          <a:lstStyle/>
          <a:p>
            <a:pPr marL="0" indent="0">
              <a:buNone/>
            </a:pPr>
            <a:r>
              <a:rPr lang="en-US" sz="900" dirty="0">
                <a:solidFill>
                  <a:srgbClr val="616161"/>
                </a:solidFill>
              </a:rPr>
              <a:t>Predict risk level (Good / Moderate / Unhealthy / Hazardous)</a:t>
            </a:r>
            <a:endParaRPr lang="en-US" sz="900" dirty="0"/>
          </a:p>
        </p:txBody>
      </p:sp>
      <p:sp>
        <p:nvSpPr>
          <p:cNvPr id="30" name="Shape 27"/>
          <p:cNvSpPr/>
          <p:nvPr/>
        </p:nvSpPr>
        <p:spPr>
          <a:xfrm>
            <a:off x="3794760" y="4315968"/>
            <a:ext cx="384048" cy="384048"/>
          </a:xfrm>
          <a:prstGeom prst="rect">
            <a:avLst/>
          </a:prstGeom>
          <a:solidFill>
            <a:srgbClr val="2E7D32"/>
          </a:solidFill>
          <a:ln w="12700">
            <a:solidFill>
              <a:srgbClr val="2E7D32"/>
            </a:solidFill>
            <a:prstDash val="solid"/>
          </a:ln>
        </p:spPr>
      </p:sp>
      <p:sp>
        <p:nvSpPr>
          <p:cNvPr id="31" name="Text 28"/>
          <p:cNvSpPr/>
          <p:nvPr/>
        </p:nvSpPr>
        <p:spPr>
          <a:xfrm>
            <a:off x="3794760" y="4315968"/>
            <a:ext cx="384048" cy="384048"/>
          </a:xfrm>
          <a:prstGeom prst="rect">
            <a:avLst/>
          </a:prstGeom>
          <a:noFill/>
          <a:ln/>
        </p:spPr>
        <p:txBody>
          <a:bodyPr wrap="square" rtlCol="0" anchor="ctr"/>
          <a:lstStyle/>
          <a:p>
            <a:pPr marL="0" indent="0" algn="ctr">
              <a:buNone/>
            </a:pPr>
            <a:r>
              <a:rPr lang="en-US" sz="950" b="1" dirty="0">
                <a:solidFill>
                  <a:srgbClr val="FFFFFF"/>
                </a:solidFill>
              </a:rPr>
              <a:t>07</a:t>
            </a:r>
            <a:endParaRPr lang="en-US" sz="950" dirty="0"/>
          </a:p>
        </p:txBody>
      </p:sp>
      <p:sp>
        <p:nvSpPr>
          <p:cNvPr id="32" name="Text 29"/>
          <p:cNvSpPr/>
          <p:nvPr/>
        </p:nvSpPr>
        <p:spPr>
          <a:xfrm>
            <a:off x="4251960" y="4325112"/>
            <a:ext cx="4663440" cy="201168"/>
          </a:xfrm>
          <a:prstGeom prst="rect">
            <a:avLst/>
          </a:prstGeom>
          <a:noFill/>
          <a:ln/>
        </p:spPr>
        <p:txBody>
          <a:bodyPr wrap="square" rtlCol="0" anchor="ctr"/>
          <a:lstStyle/>
          <a:p>
            <a:pPr marL="0" indent="0">
              <a:buNone/>
            </a:pPr>
            <a:r>
              <a:rPr lang="en-US" sz="1100" b="1" dirty="0">
                <a:solidFill>
                  <a:srgbClr val="1C1C1C"/>
                </a:solidFill>
              </a:rPr>
              <a:t>Future AQI Forecasting</a:t>
            </a:r>
            <a:endParaRPr lang="en-US" sz="1100" dirty="0"/>
          </a:p>
        </p:txBody>
      </p:sp>
      <p:sp>
        <p:nvSpPr>
          <p:cNvPr id="33" name="Text 30"/>
          <p:cNvSpPr/>
          <p:nvPr/>
        </p:nvSpPr>
        <p:spPr>
          <a:xfrm>
            <a:off x="4251960" y="4517136"/>
            <a:ext cx="4663440" cy="182880"/>
          </a:xfrm>
          <a:prstGeom prst="rect">
            <a:avLst/>
          </a:prstGeom>
          <a:noFill/>
          <a:ln/>
        </p:spPr>
        <p:txBody>
          <a:bodyPr wrap="square" rtlCol="0" anchor="ctr"/>
          <a:lstStyle/>
          <a:p>
            <a:pPr marL="0" indent="0">
              <a:buNone/>
            </a:pPr>
            <a:r>
              <a:rPr lang="en-US" sz="900" dirty="0">
                <a:solidFill>
                  <a:srgbClr val="616161"/>
                </a:solidFill>
              </a:rPr>
              <a:t>Next 7-day AQI prediction using LSTM + real-time integration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5E20"/>
          </a:solidFill>
          <a:ln w="12700">
            <a:solidFill>
              <a:srgbClr val="1B5E20"/>
            </a:solidFill>
            <a:prstDash val="solid"/>
          </a:ln>
        </p:spPr>
      </p:sp>
      <p:sp>
        <p:nvSpPr>
          <p:cNvPr id="3" name="Text 1"/>
          <p:cNvSpPr/>
          <p:nvPr/>
        </p:nvSpPr>
        <p:spPr>
          <a:xfrm>
            <a:off x="320040" y="0"/>
            <a:ext cx="8503920" cy="502920"/>
          </a:xfrm>
          <a:prstGeom prst="rect">
            <a:avLst/>
          </a:prstGeom>
          <a:noFill/>
          <a:ln/>
        </p:spPr>
        <p:txBody>
          <a:bodyPr wrap="square" rtlCol="0" anchor="ctr"/>
          <a:lstStyle/>
          <a:p>
            <a:pPr marL="0" indent="0">
              <a:buNone/>
            </a:pPr>
            <a:endParaRPr lang="en-US" sz="1000" dirty="0"/>
          </a:p>
        </p:txBody>
      </p:sp>
      <p:sp>
        <p:nvSpPr>
          <p:cNvPr id="4" name="Text 2"/>
          <p:cNvSpPr/>
          <p:nvPr/>
        </p:nvSpPr>
        <p:spPr>
          <a:xfrm>
            <a:off x="87923" y="78779"/>
            <a:ext cx="8503920" cy="384048"/>
          </a:xfrm>
          <a:prstGeom prst="rect">
            <a:avLst/>
          </a:prstGeom>
          <a:noFill/>
          <a:ln/>
        </p:spPr>
        <p:txBody>
          <a:bodyPr wrap="square" rtlCol="0" anchor="ctr"/>
          <a:lstStyle/>
          <a:p>
            <a:pPr marL="0" indent="0">
              <a:buNone/>
            </a:pPr>
            <a:r>
              <a:rPr lang="en-US" sz="2000" b="1" dirty="0">
                <a:solidFill>
                  <a:srgbClr val="1C1C1C"/>
                </a:solidFill>
              </a:rPr>
              <a:t>Data Preprocessing &amp; Dataset Description</a:t>
            </a:r>
            <a:endParaRPr lang="en-US" sz="2000" dirty="0"/>
          </a:p>
        </p:txBody>
      </p:sp>
      <p:sp>
        <p:nvSpPr>
          <p:cNvPr id="5" name="Shape 3"/>
          <p:cNvSpPr/>
          <p:nvPr/>
        </p:nvSpPr>
        <p:spPr>
          <a:xfrm>
            <a:off x="274320" y="1078992"/>
            <a:ext cx="2011680" cy="914400"/>
          </a:xfrm>
          <a:prstGeom prst="rect">
            <a:avLst/>
          </a:prstGeom>
          <a:solidFill>
            <a:srgbClr val="FFFFFF"/>
          </a:solidFill>
          <a:ln w="12700">
            <a:solidFill>
              <a:srgbClr val="A5D6A7"/>
            </a:solidFill>
            <a:prstDash val="solid"/>
          </a:ln>
          <a:effectLst>
            <a:outerShdw blurRad="50800" dist="25400" dir="8100000" algn="bl" rotWithShape="0">
              <a:srgbClr val="000000">
                <a:alpha val="7000"/>
              </a:srgbClr>
            </a:outerShdw>
          </a:effectLst>
        </p:spPr>
      </p:sp>
      <p:sp>
        <p:nvSpPr>
          <p:cNvPr id="6" name="Shape 4"/>
          <p:cNvSpPr/>
          <p:nvPr/>
        </p:nvSpPr>
        <p:spPr>
          <a:xfrm>
            <a:off x="274320" y="1078992"/>
            <a:ext cx="2011680" cy="274320"/>
          </a:xfrm>
          <a:prstGeom prst="rect">
            <a:avLst/>
          </a:prstGeom>
          <a:solidFill>
            <a:srgbClr val="2E7D32"/>
          </a:solidFill>
          <a:ln w="12700">
            <a:solidFill>
              <a:srgbClr val="2E7D32"/>
            </a:solidFill>
            <a:prstDash val="solid"/>
          </a:ln>
        </p:spPr>
      </p:sp>
      <p:sp>
        <p:nvSpPr>
          <p:cNvPr id="7" name="Text 5"/>
          <p:cNvSpPr/>
          <p:nvPr/>
        </p:nvSpPr>
        <p:spPr>
          <a:xfrm>
            <a:off x="274320" y="1078992"/>
            <a:ext cx="2011680" cy="274320"/>
          </a:xfrm>
          <a:prstGeom prst="rect">
            <a:avLst/>
          </a:prstGeom>
          <a:noFill/>
          <a:ln/>
        </p:spPr>
        <p:txBody>
          <a:bodyPr wrap="square" rtlCol="0" anchor="ctr"/>
          <a:lstStyle/>
          <a:p>
            <a:pPr marL="0" indent="0" algn="ctr">
              <a:buNone/>
            </a:pPr>
            <a:r>
              <a:rPr lang="en-US" sz="950" b="1" dirty="0">
                <a:solidFill>
                  <a:srgbClr val="FFFFFF"/>
                </a:solidFill>
              </a:rPr>
              <a:t>Original Rows</a:t>
            </a:r>
            <a:endParaRPr lang="en-US" sz="950" dirty="0"/>
          </a:p>
        </p:txBody>
      </p:sp>
      <p:sp>
        <p:nvSpPr>
          <p:cNvPr id="8" name="Text 6"/>
          <p:cNvSpPr/>
          <p:nvPr/>
        </p:nvSpPr>
        <p:spPr>
          <a:xfrm>
            <a:off x="274320" y="1371600"/>
            <a:ext cx="2011680" cy="384048"/>
          </a:xfrm>
          <a:prstGeom prst="rect">
            <a:avLst/>
          </a:prstGeom>
          <a:noFill/>
          <a:ln/>
        </p:spPr>
        <p:txBody>
          <a:bodyPr wrap="square" rtlCol="0" anchor="ctr"/>
          <a:lstStyle/>
          <a:p>
            <a:pPr marL="0" indent="0" algn="ctr">
              <a:buNone/>
            </a:pPr>
            <a:r>
              <a:rPr lang="en-US" sz="1800" b="1" dirty="0">
                <a:solidFill>
                  <a:srgbClr val="F9A825"/>
                </a:solidFill>
              </a:rPr>
              <a:t>842,160</a:t>
            </a:r>
            <a:endParaRPr lang="en-US" sz="1800" dirty="0"/>
          </a:p>
        </p:txBody>
      </p:sp>
      <p:sp>
        <p:nvSpPr>
          <p:cNvPr id="9" name="Text 7"/>
          <p:cNvSpPr/>
          <p:nvPr/>
        </p:nvSpPr>
        <p:spPr>
          <a:xfrm>
            <a:off x="274320" y="1737360"/>
            <a:ext cx="2011680" cy="201168"/>
          </a:xfrm>
          <a:prstGeom prst="rect">
            <a:avLst/>
          </a:prstGeom>
          <a:noFill/>
          <a:ln/>
        </p:spPr>
        <p:txBody>
          <a:bodyPr wrap="square" rtlCol="0" anchor="ctr"/>
          <a:lstStyle/>
          <a:p>
            <a:pPr marL="0" indent="0" algn="ctr">
              <a:buNone/>
            </a:pPr>
            <a:r>
              <a:rPr lang="en-US" sz="850" dirty="0">
                <a:solidFill>
                  <a:srgbClr val="616161"/>
                </a:solidFill>
              </a:rPr>
              <a:t>Before cleaning</a:t>
            </a:r>
            <a:endParaRPr lang="en-US" sz="850" dirty="0"/>
          </a:p>
        </p:txBody>
      </p:sp>
      <p:sp>
        <p:nvSpPr>
          <p:cNvPr id="10" name="Shape 8"/>
          <p:cNvSpPr/>
          <p:nvPr/>
        </p:nvSpPr>
        <p:spPr>
          <a:xfrm>
            <a:off x="2450592" y="1078992"/>
            <a:ext cx="2011680" cy="914400"/>
          </a:xfrm>
          <a:prstGeom prst="rect">
            <a:avLst/>
          </a:prstGeom>
          <a:solidFill>
            <a:srgbClr val="FFFFFF"/>
          </a:solidFill>
          <a:ln w="12700">
            <a:solidFill>
              <a:srgbClr val="A5D6A7"/>
            </a:solidFill>
            <a:prstDash val="solid"/>
          </a:ln>
          <a:effectLst>
            <a:outerShdw blurRad="50800" dist="25400" dir="8100000" algn="bl" rotWithShape="0">
              <a:srgbClr val="000000">
                <a:alpha val="7000"/>
              </a:srgbClr>
            </a:outerShdw>
          </a:effectLst>
        </p:spPr>
      </p:sp>
      <p:sp>
        <p:nvSpPr>
          <p:cNvPr id="11" name="Shape 9"/>
          <p:cNvSpPr/>
          <p:nvPr/>
        </p:nvSpPr>
        <p:spPr>
          <a:xfrm>
            <a:off x="2450592" y="1078992"/>
            <a:ext cx="2011680" cy="274320"/>
          </a:xfrm>
          <a:prstGeom prst="rect">
            <a:avLst/>
          </a:prstGeom>
          <a:solidFill>
            <a:srgbClr val="2E7D32"/>
          </a:solidFill>
          <a:ln w="12700">
            <a:solidFill>
              <a:srgbClr val="2E7D32"/>
            </a:solidFill>
            <a:prstDash val="solid"/>
          </a:ln>
        </p:spPr>
      </p:sp>
      <p:sp>
        <p:nvSpPr>
          <p:cNvPr id="12" name="Text 10"/>
          <p:cNvSpPr/>
          <p:nvPr/>
        </p:nvSpPr>
        <p:spPr>
          <a:xfrm>
            <a:off x="2450592" y="1078992"/>
            <a:ext cx="2011680" cy="274320"/>
          </a:xfrm>
          <a:prstGeom prst="rect">
            <a:avLst/>
          </a:prstGeom>
          <a:noFill/>
          <a:ln/>
        </p:spPr>
        <p:txBody>
          <a:bodyPr wrap="square" rtlCol="0" anchor="ctr"/>
          <a:lstStyle/>
          <a:p>
            <a:pPr marL="0" indent="0" algn="ctr">
              <a:buNone/>
            </a:pPr>
            <a:r>
              <a:rPr lang="en-US" sz="950" b="1" dirty="0">
                <a:solidFill>
                  <a:srgbClr val="FFFFFF"/>
                </a:solidFill>
              </a:rPr>
              <a:t>After Null Drops</a:t>
            </a:r>
            <a:endParaRPr lang="en-US" sz="950" dirty="0"/>
          </a:p>
        </p:txBody>
      </p:sp>
      <p:sp>
        <p:nvSpPr>
          <p:cNvPr id="13" name="Text 11"/>
          <p:cNvSpPr/>
          <p:nvPr/>
        </p:nvSpPr>
        <p:spPr>
          <a:xfrm>
            <a:off x="2450592" y="1371600"/>
            <a:ext cx="2011680" cy="384048"/>
          </a:xfrm>
          <a:prstGeom prst="rect">
            <a:avLst/>
          </a:prstGeom>
          <a:noFill/>
          <a:ln/>
        </p:spPr>
        <p:txBody>
          <a:bodyPr wrap="square" rtlCol="0" anchor="ctr"/>
          <a:lstStyle/>
          <a:p>
            <a:pPr marL="0" indent="0" algn="ctr">
              <a:buNone/>
            </a:pPr>
            <a:r>
              <a:rPr lang="en-US" sz="1800" b="1" dirty="0">
                <a:solidFill>
                  <a:srgbClr val="F9A825"/>
                </a:solidFill>
              </a:rPr>
              <a:t>842</a:t>
            </a:r>
            <a:r>
              <a:rPr lang="en-US" b="1" dirty="0">
                <a:solidFill>
                  <a:srgbClr val="F9A825"/>
                </a:solidFill>
              </a:rPr>
              <a:t>,</a:t>
            </a:r>
            <a:r>
              <a:rPr lang="en-US" sz="1800" b="1" dirty="0">
                <a:solidFill>
                  <a:srgbClr val="F9A825"/>
                </a:solidFill>
              </a:rPr>
              <a:t>015</a:t>
            </a:r>
            <a:endParaRPr lang="en-US" sz="1800" dirty="0"/>
          </a:p>
        </p:txBody>
      </p:sp>
      <p:sp>
        <p:nvSpPr>
          <p:cNvPr id="14" name="Text 12"/>
          <p:cNvSpPr/>
          <p:nvPr/>
        </p:nvSpPr>
        <p:spPr>
          <a:xfrm>
            <a:off x="2450592" y="1737360"/>
            <a:ext cx="2011680" cy="201168"/>
          </a:xfrm>
          <a:prstGeom prst="rect">
            <a:avLst/>
          </a:prstGeom>
          <a:noFill/>
          <a:ln/>
        </p:spPr>
        <p:txBody>
          <a:bodyPr wrap="square" rtlCol="0" anchor="ctr"/>
          <a:lstStyle/>
          <a:p>
            <a:pPr marL="0" indent="0" algn="ctr">
              <a:buNone/>
            </a:pPr>
            <a:r>
              <a:rPr lang="en-US" sz="850" dirty="0">
                <a:solidFill>
                  <a:srgbClr val="616161"/>
                </a:solidFill>
              </a:rPr>
              <a:t>AQI null rows removed</a:t>
            </a:r>
            <a:endParaRPr lang="en-US" sz="850" dirty="0"/>
          </a:p>
        </p:txBody>
      </p:sp>
      <p:sp>
        <p:nvSpPr>
          <p:cNvPr id="15" name="Shape 13"/>
          <p:cNvSpPr/>
          <p:nvPr/>
        </p:nvSpPr>
        <p:spPr>
          <a:xfrm>
            <a:off x="4626864" y="1078992"/>
            <a:ext cx="2011680" cy="914400"/>
          </a:xfrm>
          <a:prstGeom prst="rect">
            <a:avLst/>
          </a:prstGeom>
          <a:solidFill>
            <a:srgbClr val="FFFFFF"/>
          </a:solidFill>
          <a:ln w="12700">
            <a:solidFill>
              <a:srgbClr val="A5D6A7"/>
            </a:solidFill>
            <a:prstDash val="solid"/>
          </a:ln>
          <a:effectLst>
            <a:outerShdw blurRad="50800" dist="25400" dir="8100000" algn="bl" rotWithShape="0">
              <a:srgbClr val="000000">
                <a:alpha val="7000"/>
              </a:srgbClr>
            </a:outerShdw>
          </a:effectLst>
        </p:spPr>
      </p:sp>
      <p:sp>
        <p:nvSpPr>
          <p:cNvPr id="16" name="Shape 14"/>
          <p:cNvSpPr/>
          <p:nvPr/>
        </p:nvSpPr>
        <p:spPr>
          <a:xfrm>
            <a:off x="4626864" y="1078992"/>
            <a:ext cx="2011680" cy="274320"/>
          </a:xfrm>
          <a:prstGeom prst="rect">
            <a:avLst/>
          </a:prstGeom>
          <a:solidFill>
            <a:srgbClr val="2E7D32"/>
          </a:solidFill>
          <a:ln w="12700">
            <a:solidFill>
              <a:srgbClr val="2E7D32"/>
            </a:solidFill>
            <a:prstDash val="solid"/>
          </a:ln>
        </p:spPr>
      </p:sp>
      <p:sp>
        <p:nvSpPr>
          <p:cNvPr id="17" name="Text 15"/>
          <p:cNvSpPr/>
          <p:nvPr/>
        </p:nvSpPr>
        <p:spPr>
          <a:xfrm>
            <a:off x="4626864" y="1078992"/>
            <a:ext cx="2011680" cy="274320"/>
          </a:xfrm>
          <a:prstGeom prst="rect">
            <a:avLst/>
          </a:prstGeom>
          <a:noFill/>
          <a:ln/>
        </p:spPr>
        <p:txBody>
          <a:bodyPr wrap="square" rtlCol="0" anchor="ctr"/>
          <a:lstStyle/>
          <a:p>
            <a:pPr marL="0" indent="0" algn="ctr">
              <a:buNone/>
            </a:pPr>
            <a:r>
              <a:rPr lang="en-US" sz="950" b="1" dirty="0">
                <a:solidFill>
                  <a:srgbClr val="FFFFFF"/>
                </a:solidFill>
              </a:rPr>
              <a:t>Final Columns</a:t>
            </a:r>
            <a:endParaRPr lang="en-US" sz="950" dirty="0"/>
          </a:p>
        </p:txBody>
      </p:sp>
      <p:sp>
        <p:nvSpPr>
          <p:cNvPr id="18" name="Text 16"/>
          <p:cNvSpPr/>
          <p:nvPr/>
        </p:nvSpPr>
        <p:spPr>
          <a:xfrm>
            <a:off x="4626864" y="1371600"/>
            <a:ext cx="2011680" cy="384048"/>
          </a:xfrm>
          <a:prstGeom prst="rect">
            <a:avLst/>
          </a:prstGeom>
          <a:noFill/>
          <a:ln/>
        </p:spPr>
        <p:txBody>
          <a:bodyPr wrap="square" rtlCol="0" anchor="ctr"/>
          <a:lstStyle/>
          <a:p>
            <a:pPr marL="0" indent="0" algn="ctr">
              <a:buNone/>
            </a:pPr>
            <a:r>
              <a:rPr lang="en-US" sz="1800" b="1" dirty="0">
                <a:solidFill>
                  <a:srgbClr val="F9A825"/>
                </a:solidFill>
              </a:rPr>
              <a:t>63</a:t>
            </a:r>
            <a:endParaRPr lang="en-US" sz="1800" dirty="0"/>
          </a:p>
        </p:txBody>
      </p:sp>
      <p:sp>
        <p:nvSpPr>
          <p:cNvPr id="19" name="Text 17"/>
          <p:cNvSpPr/>
          <p:nvPr/>
        </p:nvSpPr>
        <p:spPr>
          <a:xfrm>
            <a:off x="4626864" y="1737360"/>
            <a:ext cx="2011680" cy="201168"/>
          </a:xfrm>
          <a:prstGeom prst="rect">
            <a:avLst/>
          </a:prstGeom>
          <a:noFill/>
          <a:ln/>
        </p:spPr>
        <p:txBody>
          <a:bodyPr wrap="square" rtlCol="0" anchor="ctr"/>
          <a:lstStyle/>
          <a:p>
            <a:pPr marL="0" indent="0" algn="ctr">
              <a:buNone/>
            </a:pPr>
            <a:r>
              <a:rPr lang="en-US" sz="850" dirty="0">
                <a:solidFill>
                  <a:srgbClr val="616161"/>
                </a:solidFill>
              </a:rPr>
              <a:t>After dropping columns that are not useful</a:t>
            </a:r>
            <a:endParaRPr lang="en-US" sz="850" dirty="0"/>
          </a:p>
        </p:txBody>
      </p:sp>
      <p:sp>
        <p:nvSpPr>
          <p:cNvPr id="22" name="Text 20"/>
          <p:cNvSpPr/>
          <p:nvPr/>
        </p:nvSpPr>
        <p:spPr>
          <a:xfrm>
            <a:off x="6803136" y="1078992"/>
            <a:ext cx="2011680" cy="274320"/>
          </a:xfrm>
          <a:prstGeom prst="rect">
            <a:avLst/>
          </a:prstGeom>
          <a:noFill/>
          <a:ln/>
        </p:spPr>
        <p:txBody>
          <a:bodyPr wrap="square" rtlCol="0" anchor="ctr"/>
          <a:lstStyle/>
          <a:p>
            <a:pPr marL="0" indent="0" algn="ctr">
              <a:buNone/>
            </a:pPr>
            <a:r>
              <a:rPr lang="en-US" sz="950" b="1" dirty="0">
                <a:solidFill>
                  <a:srgbClr val="FFFFFF"/>
                </a:solidFill>
              </a:rPr>
              <a:t>sage</a:t>
            </a:r>
            <a:endParaRPr lang="en-US" sz="950" dirty="0"/>
          </a:p>
        </p:txBody>
      </p:sp>
      <p:sp>
        <p:nvSpPr>
          <p:cNvPr id="25" name="Text 23"/>
          <p:cNvSpPr/>
          <p:nvPr/>
        </p:nvSpPr>
        <p:spPr>
          <a:xfrm>
            <a:off x="274320" y="2103120"/>
            <a:ext cx="8595360" cy="292608"/>
          </a:xfrm>
          <a:prstGeom prst="rect">
            <a:avLst/>
          </a:prstGeom>
          <a:noFill/>
          <a:ln/>
        </p:spPr>
        <p:txBody>
          <a:bodyPr wrap="square" rtlCol="0" anchor="ctr"/>
          <a:lstStyle/>
          <a:p>
            <a:pPr marL="0" indent="0">
              <a:buNone/>
            </a:pPr>
            <a:r>
              <a:rPr lang="en-US" sz="1200" b="1" dirty="0">
                <a:solidFill>
                  <a:srgbClr val="2E7D32"/>
                </a:solidFill>
              </a:rPr>
              <a:t>Dataset Feature Categories</a:t>
            </a:r>
            <a:endParaRPr lang="en-US" sz="1200" dirty="0"/>
          </a:p>
        </p:txBody>
      </p:sp>
      <p:sp>
        <p:nvSpPr>
          <p:cNvPr id="26" name="Shape 24"/>
          <p:cNvSpPr/>
          <p:nvPr/>
        </p:nvSpPr>
        <p:spPr>
          <a:xfrm>
            <a:off x="274320" y="2468880"/>
            <a:ext cx="4251960" cy="457200"/>
          </a:xfrm>
          <a:prstGeom prst="rect">
            <a:avLst/>
          </a:prstGeom>
          <a:solidFill>
            <a:srgbClr val="FFFFFF"/>
          </a:solidFill>
          <a:ln w="12700">
            <a:solidFill>
              <a:srgbClr val="A5D6A7"/>
            </a:solidFill>
            <a:prstDash val="solid"/>
          </a:ln>
        </p:spPr>
      </p:sp>
      <p:sp>
        <p:nvSpPr>
          <p:cNvPr id="27" name="Shape 25"/>
          <p:cNvSpPr/>
          <p:nvPr/>
        </p:nvSpPr>
        <p:spPr>
          <a:xfrm>
            <a:off x="274320" y="2468880"/>
            <a:ext cx="1417320" cy="457200"/>
          </a:xfrm>
          <a:prstGeom prst="rect">
            <a:avLst/>
          </a:prstGeom>
          <a:solidFill>
            <a:srgbClr val="E8F5E9"/>
          </a:solidFill>
          <a:ln w="12700">
            <a:solidFill>
              <a:srgbClr val="A5D6A7"/>
            </a:solidFill>
            <a:prstDash val="solid"/>
          </a:ln>
        </p:spPr>
      </p:sp>
      <p:sp>
        <p:nvSpPr>
          <p:cNvPr id="28" name="Text 26"/>
          <p:cNvSpPr/>
          <p:nvPr/>
        </p:nvSpPr>
        <p:spPr>
          <a:xfrm>
            <a:off x="329184" y="2542032"/>
            <a:ext cx="1325880" cy="310896"/>
          </a:xfrm>
          <a:prstGeom prst="rect">
            <a:avLst/>
          </a:prstGeom>
          <a:noFill/>
          <a:ln/>
        </p:spPr>
        <p:txBody>
          <a:bodyPr wrap="square" rtlCol="0" anchor="ctr"/>
          <a:lstStyle/>
          <a:p>
            <a:pPr marL="0" indent="0">
              <a:buNone/>
            </a:pPr>
            <a:r>
              <a:rPr lang="en-US" sz="950" b="1" dirty="0">
                <a:solidFill>
                  <a:srgbClr val="2E7D32"/>
                </a:solidFill>
              </a:rPr>
              <a:t> Location</a:t>
            </a:r>
            <a:endParaRPr lang="en-US" sz="950" dirty="0"/>
          </a:p>
        </p:txBody>
      </p:sp>
      <p:sp>
        <p:nvSpPr>
          <p:cNvPr id="29" name="Text 27"/>
          <p:cNvSpPr/>
          <p:nvPr/>
        </p:nvSpPr>
        <p:spPr>
          <a:xfrm>
            <a:off x="1755648" y="2542032"/>
            <a:ext cx="2715768" cy="310896"/>
          </a:xfrm>
          <a:prstGeom prst="rect">
            <a:avLst/>
          </a:prstGeom>
          <a:noFill/>
          <a:ln/>
        </p:spPr>
        <p:txBody>
          <a:bodyPr wrap="square" rtlCol="0" anchor="ctr"/>
          <a:lstStyle/>
          <a:p>
            <a:pPr marL="0" indent="0">
              <a:buNone/>
            </a:pPr>
            <a:r>
              <a:rPr lang="en-US" sz="880" dirty="0">
                <a:solidFill>
                  <a:srgbClr val="1C1C1C"/>
                </a:solidFill>
              </a:rPr>
              <a:t>City, State, Latitude, Longitude</a:t>
            </a:r>
            <a:endParaRPr lang="en-US" sz="880" dirty="0"/>
          </a:p>
        </p:txBody>
      </p:sp>
      <p:sp>
        <p:nvSpPr>
          <p:cNvPr id="30" name="Shape 28"/>
          <p:cNvSpPr/>
          <p:nvPr/>
        </p:nvSpPr>
        <p:spPr>
          <a:xfrm>
            <a:off x="4709160" y="2468880"/>
            <a:ext cx="4251960" cy="457200"/>
          </a:xfrm>
          <a:prstGeom prst="rect">
            <a:avLst/>
          </a:prstGeom>
          <a:solidFill>
            <a:srgbClr val="FFFFFF"/>
          </a:solidFill>
          <a:ln w="12700">
            <a:solidFill>
              <a:srgbClr val="A5D6A7"/>
            </a:solidFill>
            <a:prstDash val="solid"/>
          </a:ln>
        </p:spPr>
      </p:sp>
      <p:sp>
        <p:nvSpPr>
          <p:cNvPr id="31" name="Shape 29"/>
          <p:cNvSpPr/>
          <p:nvPr/>
        </p:nvSpPr>
        <p:spPr>
          <a:xfrm>
            <a:off x="4709160" y="2468880"/>
            <a:ext cx="1417320" cy="457200"/>
          </a:xfrm>
          <a:prstGeom prst="rect">
            <a:avLst/>
          </a:prstGeom>
          <a:solidFill>
            <a:srgbClr val="E8F5E9"/>
          </a:solidFill>
          <a:ln w="12700">
            <a:solidFill>
              <a:srgbClr val="A5D6A7"/>
            </a:solidFill>
            <a:prstDash val="solid"/>
          </a:ln>
        </p:spPr>
      </p:sp>
      <p:sp>
        <p:nvSpPr>
          <p:cNvPr id="32" name="Text 30"/>
          <p:cNvSpPr/>
          <p:nvPr/>
        </p:nvSpPr>
        <p:spPr>
          <a:xfrm>
            <a:off x="4764024" y="2542032"/>
            <a:ext cx="1325880" cy="310896"/>
          </a:xfrm>
          <a:prstGeom prst="rect">
            <a:avLst/>
          </a:prstGeom>
          <a:noFill/>
          <a:ln/>
        </p:spPr>
        <p:txBody>
          <a:bodyPr wrap="square" rtlCol="0" anchor="ctr"/>
          <a:lstStyle/>
          <a:p>
            <a:pPr marL="0" indent="0">
              <a:buNone/>
            </a:pPr>
            <a:r>
              <a:rPr lang="en-US" sz="950" b="1" dirty="0">
                <a:solidFill>
                  <a:srgbClr val="2E7D32"/>
                </a:solidFill>
              </a:rPr>
              <a:t> Time</a:t>
            </a:r>
            <a:endParaRPr lang="en-US" sz="950" dirty="0"/>
          </a:p>
        </p:txBody>
      </p:sp>
      <p:sp>
        <p:nvSpPr>
          <p:cNvPr id="33" name="Text 31"/>
          <p:cNvSpPr/>
          <p:nvPr/>
        </p:nvSpPr>
        <p:spPr>
          <a:xfrm>
            <a:off x="6190488" y="2542032"/>
            <a:ext cx="2715768" cy="310896"/>
          </a:xfrm>
          <a:prstGeom prst="rect">
            <a:avLst/>
          </a:prstGeom>
          <a:noFill/>
          <a:ln/>
        </p:spPr>
        <p:txBody>
          <a:bodyPr wrap="square" rtlCol="0" anchor="ctr"/>
          <a:lstStyle/>
          <a:p>
            <a:pPr marL="0" indent="0">
              <a:buNone/>
            </a:pPr>
            <a:r>
              <a:rPr lang="en-US" sz="880" dirty="0">
                <a:solidFill>
                  <a:srgbClr val="1C1C1C"/>
                </a:solidFill>
              </a:rPr>
              <a:t>Datetime, Year, Month, Day, Hour, Day_of_Week, Season</a:t>
            </a:r>
            <a:endParaRPr lang="en-US" sz="880" dirty="0"/>
          </a:p>
        </p:txBody>
      </p:sp>
      <p:sp>
        <p:nvSpPr>
          <p:cNvPr id="34" name="Shape 32"/>
          <p:cNvSpPr/>
          <p:nvPr/>
        </p:nvSpPr>
        <p:spPr>
          <a:xfrm>
            <a:off x="274320" y="2990088"/>
            <a:ext cx="4251960" cy="457200"/>
          </a:xfrm>
          <a:prstGeom prst="rect">
            <a:avLst/>
          </a:prstGeom>
          <a:solidFill>
            <a:srgbClr val="F1F8E9"/>
          </a:solidFill>
          <a:ln w="12700">
            <a:solidFill>
              <a:srgbClr val="A5D6A7"/>
            </a:solidFill>
            <a:prstDash val="solid"/>
          </a:ln>
        </p:spPr>
      </p:sp>
      <p:sp>
        <p:nvSpPr>
          <p:cNvPr id="35" name="Shape 33"/>
          <p:cNvSpPr/>
          <p:nvPr/>
        </p:nvSpPr>
        <p:spPr>
          <a:xfrm>
            <a:off x="274320" y="2990088"/>
            <a:ext cx="1417320" cy="457200"/>
          </a:xfrm>
          <a:prstGeom prst="rect">
            <a:avLst/>
          </a:prstGeom>
          <a:solidFill>
            <a:srgbClr val="E8F5E9"/>
          </a:solidFill>
          <a:ln w="12700">
            <a:solidFill>
              <a:srgbClr val="A5D6A7"/>
            </a:solidFill>
            <a:prstDash val="solid"/>
          </a:ln>
        </p:spPr>
      </p:sp>
      <p:sp>
        <p:nvSpPr>
          <p:cNvPr id="36" name="Text 34"/>
          <p:cNvSpPr/>
          <p:nvPr/>
        </p:nvSpPr>
        <p:spPr>
          <a:xfrm>
            <a:off x="329184" y="3063240"/>
            <a:ext cx="1325880" cy="310896"/>
          </a:xfrm>
          <a:prstGeom prst="rect">
            <a:avLst/>
          </a:prstGeom>
          <a:noFill/>
          <a:ln/>
        </p:spPr>
        <p:txBody>
          <a:bodyPr wrap="square" rtlCol="0" anchor="ctr"/>
          <a:lstStyle/>
          <a:p>
            <a:pPr marL="0" indent="0">
              <a:buNone/>
            </a:pPr>
            <a:r>
              <a:rPr lang="en-US" sz="950" b="1" dirty="0">
                <a:solidFill>
                  <a:srgbClr val="2E7D32"/>
                </a:solidFill>
              </a:rPr>
              <a:t> Weather</a:t>
            </a:r>
            <a:endParaRPr lang="en-US" sz="950" dirty="0"/>
          </a:p>
        </p:txBody>
      </p:sp>
      <p:sp>
        <p:nvSpPr>
          <p:cNvPr id="37" name="Text 35"/>
          <p:cNvSpPr/>
          <p:nvPr/>
        </p:nvSpPr>
        <p:spPr>
          <a:xfrm>
            <a:off x="1755648" y="3063240"/>
            <a:ext cx="2715768" cy="310896"/>
          </a:xfrm>
          <a:prstGeom prst="rect">
            <a:avLst/>
          </a:prstGeom>
          <a:noFill/>
          <a:ln/>
        </p:spPr>
        <p:txBody>
          <a:bodyPr wrap="square" rtlCol="0" anchor="ctr"/>
          <a:lstStyle/>
          <a:p>
            <a:pPr marL="0" indent="0">
              <a:buNone/>
            </a:pPr>
            <a:r>
              <a:rPr lang="en-US" sz="880" dirty="0">
                <a:solidFill>
                  <a:srgbClr val="1C1C1C"/>
                </a:solidFill>
              </a:rPr>
              <a:t>Temp_2m_C, Humidity_Percent, Dew_Point_C</a:t>
            </a:r>
            <a:endParaRPr lang="en-US" sz="880" dirty="0"/>
          </a:p>
        </p:txBody>
      </p:sp>
      <p:sp>
        <p:nvSpPr>
          <p:cNvPr id="38" name="Shape 36"/>
          <p:cNvSpPr/>
          <p:nvPr/>
        </p:nvSpPr>
        <p:spPr>
          <a:xfrm>
            <a:off x="4709160" y="2990088"/>
            <a:ext cx="4251960" cy="457200"/>
          </a:xfrm>
          <a:prstGeom prst="rect">
            <a:avLst/>
          </a:prstGeom>
          <a:solidFill>
            <a:srgbClr val="F1F8E9"/>
          </a:solidFill>
          <a:ln w="12700">
            <a:solidFill>
              <a:srgbClr val="A5D6A7"/>
            </a:solidFill>
            <a:prstDash val="solid"/>
          </a:ln>
        </p:spPr>
      </p:sp>
      <p:sp>
        <p:nvSpPr>
          <p:cNvPr id="39" name="Shape 37"/>
          <p:cNvSpPr/>
          <p:nvPr/>
        </p:nvSpPr>
        <p:spPr>
          <a:xfrm>
            <a:off x="4709160" y="2990088"/>
            <a:ext cx="1417320" cy="457200"/>
          </a:xfrm>
          <a:prstGeom prst="rect">
            <a:avLst/>
          </a:prstGeom>
          <a:solidFill>
            <a:srgbClr val="E8F5E9"/>
          </a:solidFill>
          <a:ln w="12700">
            <a:solidFill>
              <a:srgbClr val="A5D6A7"/>
            </a:solidFill>
            <a:prstDash val="solid"/>
          </a:ln>
        </p:spPr>
      </p:sp>
      <p:sp>
        <p:nvSpPr>
          <p:cNvPr id="40" name="Text 38"/>
          <p:cNvSpPr/>
          <p:nvPr/>
        </p:nvSpPr>
        <p:spPr>
          <a:xfrm>
            <a:off x="4764024" y="3063240"/>
            <a:ext cx="1325880" cy="310896"/>
          </a:xfrm>
          <a:prstGeom prst="rect">
            <a:avLst/>
          </a:prstGeom>
          <a:noFill/>
          <a:ln/>
        </p:spPr>
        <p:txBody>
          <a:bodyPr wrap="square" rtlCol="0" anchor="ctr"/>
          <a:lstStyle/>
          <a:p>
            <a:pPr marL="0" indent="0">
              <a:buNone/>
            </a:pPr>
            <a:r>
              <a:rPr lang="en-US" sz="950" b="1" dirty="0">
                <a:solidFill>
                  <a:srgbClr val="2E7D32"/>
                </a:solidFill>
              </a:rPr>
              <a:t> Wind</a:t>
            </a:r>
            <a:endParaRPr lang="en-US" sz="950" dirty="0"/>
          </a:p>
        </p:txBody>
      </p:sp>
      <p:sp>
        <p:nvSpPr>
          <p:cNvPr id="41" name="Text 39"/>
          <p:cNvSpPr/>
          <p:nvPr/>
        </p:nvSpPr>
        <p:spPr>
          <a:xfrm>
            <a:off x="6190488" y="3063240"/>
            <a:ext cx="2715768" cy="310896"/>
          </a:xfrm>
          <a:prstGeom prst="rect">
            <a:avLst/>
          </a:prstGeom>
          <a:noFill/>
          <a:ln/>
        </p:spPr>
        <p:txBody>
          <a:bodyPr wrap="square" rtlCol="0" anchor="ctr"/>
          <a:lstStyle/>
          <a:p>
            <a:pPr marL="0" indent="0">
              <a:buNone/>
            </a:pPr>
            <a:r>
              <a:rPr lang="en-US" sz="880" dirty="0">
                <a:solidFill>
                  <a:srgbClr val="1C1C1C"/>
                </a:solidFill>
              </a:rPr>
              <a:t>Wind_Speed_10m_kmh, Wind_Dir_10m, Wind_Gusts_kmh</a:t>
            </a:r>
            <a:endParaRPr lang="en-US" sz="880" dirty="0"/>
          </a:p>
        </p:txBody>
      </p:sp>
      <p:sp>
        <p:nvSpPr>
          <p:cNvPr id="42" name="Shape 40"/>
          <p:cNvSpPr/>
          <p:nvPr/>
        </p:nvSpPr>
        <p:spPr>
          <a:xfrm>
            <a:off x="274320" y="3511296"/>
            <a:ext cx="4251960" cy="457200"/>
          </a:xfrm>
          <a:prstGeom prst="rect">
            <a:avLst/>
          </a:prstGeom>
          <a:solidFill>
            <a:srgbClr val="FFFFFF"/>
          </a:solidFill>
          <a:ln w="12700">
            <a:solidFill>
              <a:srgbClr val="A5D6A7"/>
            </a:solidFill>
            <a:prstDash val="solid"/>
          </a:ln>
        </p:spPr>
      </p:sp>
      <p:sp>
        <p:nvSpPr>
          <p:cNvPr id="43" name="Shape 41"/>
          <p:cNvSpPr/>
          <p:nvPr/>
        </p:nvSpPr>
        <p:spPr>
          <a:xfrm>
            <a:off x="274320" y="3511296"/>
            <a:ext cx="1417320" cy="457200"/>
          </a:xfrm>
          <a:prstGeom prst="rect">
            <a:avLst/>
          </a:prstGeom>
          <a:solidFill>
            <a:srgbClr val="E8F5E9"/>
          </a:solidFill>
          <a:ln w="12700">
            <a:solidFill>
              <a:srgbClr val="A5D6A7"/>
            </a:solidFill>
            <a:prstDash val="solid"/>
          </a:ln>
        </p:spPr>
      </p:sp>
      <p:sp>
        <p:nvSpPr>
          <p:cNvPr id="44" name="Text 42"/>
          <p:cNvSpPr/>
          <p:nvPr/>
        </p:nvSpPr>
        <p:spPr>
          <a:xfrm>
            <a:off x="329184" y="3584448"/>
            <a:ext cx="1325880" cy="310896"/>
          </a:xfrm>
          <a:prstGeom prst="rect">
            <a:avLst/>
          </a:prstGeom>
          <a:noFill/>
          <a:ln/>
        </p:spPr>
        <p:txBody>
          <a:bodyPr wrap="square" rtlCol="0" anchor="ctr"/>
          <a:lstStyle/>
          <a:p>
            <a:pPr marL="0" indent="0">
              <a:buNone/>
            </a:pPr>
            <a:r>
              <a:rPr lang="en-US" sz="950" b="1" dirty="0">
                <a:solidFill>
                  <a:srgbClr val="2E7D32"/>
                </a:solidFill>
              </a:rPr>
              <a:t> Rainfall</a:t>
            </a:r>
            <a:endParaRPr lang="en-US" sz="950" dirty="0"/>
          </a:p>
        </p:txBody>
      </p:sp>
      <p:sp>
        <p:nvSpPr>
          <p:cNvPr id="45" name="Text 43"/>
          <p:cNvSpPr/>
          <p:nvPr/>
        </p:nvSpPr>
        <p:spPr>
          <a:xfrm>
            <a:off x="1755648" y="3584448"/>
            <a:ext cx="2715768" cy="310896"/>
          </a:xfrm>
          <a:prstGeom prst="rect">
            <a:avLst/>
          </a:prstGeom>
          <a:noFill/>
          <a:ln/>
        </p:spPr>
        <p:txBody>
          <a:bodyPr wrap="square" rtlCol="0" anchor="ctr"/>
          <a:lstStyle/>
          <a:p>
            <a:pPr marL="0" indent="0">
              <a:buNone/>
            </a:pPr>
            <a:r>
              <a:rPr lang="en-US" sz="880" dirty="0">
                <a:solidFill>
                  <a:srgbClr val="1C1C1C"/>
                </a:solidFill>
              </a:rPr>
              <a:t>Precipitation_mm, Rain_mm, Is_Raining</a:t>
            </a:r>
            <a:endParaRPr lang="en-US" sz="880" dirty="0"/>
          </a:p>
        </p:txBody>
      </p:sp>
      <p:sp>
        <p:nvSpPr>
          <p:cNvPr id="46" name="Shape 44"/>
          <p:cNvSpPr/>
          <p:nvPr/>
        </p:nvSpPr>
        <p:spPr>
          <a:xfrm>
            <a:off x="4709160" y="3511296"/>
            <a:ext cx="4251960" cy="457200"/>
          </a:xfrm>
          <a:prstGeom prst="rect">
            <a:avLst/>
          </a:prstGeom>
          <a:solidFill>
            <a:srgbClr val="FFFFFF"/>
          </a:solidFill>
          <a:ln w="12700">
            <a:solidFill>
              <a:srgbClr val="A5D6A7"/>
            </a:solidFill>
            <a:prstDash val="solid"/>
          </a:ln>
        </p:spPr>
      </p:sp>
      <p:sp>
        <p:nvSpPr>
          <p:cNvPr id="47" name="Shape 45"/>
          <p:cNvSpPr/>
          <p:nvPr/>
        </p:nvSpPr>
        <p:spPr>
          <a:xfrm>
            <a:off x="4709160" y="3511296"/>
            <a:ext cx="1417320" cy="457200"/>
          </a:xfrm>
          <a:prstGeom prst="rect">
            <a:avLst/>
          </a:prstGeom>
          <a:solidFill>
            <a:srgbClr val="E8F5E9"/>
          </a:solidFill>
          <a:ln w="12700">
            <a:solidFill>
              <a:srgbClr val="A5D6A7"/>
            </a:solidFill>
            <a:prstDash val="solid"/>
          </a:ln>
        </p:spPr>
      </p:sp>
      <p:sp>
        <p:nvSpPr>
          <p:cNvPr id="48" name="Text 46"/>
          <p:cNvSpPr/>
          <p:nvPr/>
        </p:nvSpPr>
        <p:spPr>
          <a:xfrm>
            <a:off x="4764024" y="3584448"/>
            <a:ext cx="1325880" cy="310896"/>
          </a:xfrm>
          <a:prstGeom prst="rect">
            <a:avLst/>
          </a:prstGeom>
          <a:noFill/>
          <a:ln/>
        </p:spPr>
        <p:txBody>
          <a:bodyPr wrap="square" rtlCol="0" anchor="ctr"/>
          <a:lstStyle/>
          <a:p>
            <a:pPr marL="0" indent="0">
              <a:buNone/>
            </a:pPr>
            <a:r>
              <a:rPr lang="en-US" sz="950" b="1" dirty="0">
                <a:solidFill>
                  <a:srgbClr val="2E7D32"/>
                </a:solidFill>
              </a:rPr>
              <a:t>Atmosphere</a:t>
            </a:r>
            <a:endParaRPr lang="en-US" sz="950" dirty="0"/>
          </a:p>
        </p:txBody>
      </p:sp>
      <p:sp>
        <p:nvSpPr>
          <p:cNvPr id="49" name="Text 47"/>
          <p:cNvSpPr/>
          <p:nvPr/>
        </p:nvSpPr>
        <p:spPr>
          <a:xfrm>
            <a:off x="6190488" y="3584448"/>
            <a:ext cx="2715768" cy="310896"/>
          </a:xfrm>
          <a:prstGeom prst="rect">
            <a:avLst/>
          </a:prstGeom>
          <a:noFill/>
          <a:ln/>
        </p:spPr>
        <p:txBody>
          <a:bodyPr wrap="square" rtlCol="0" anchor="ctr"/>
          <a:lstStyle/>
          <a:p>
            <a:pPr marL="0" indent="0">
              <a:buNone/>
            </a:pPr>
            <a:r>
              <a:rPr lang="en-US" sz="880" dirty="0">
                <a:solidFill>
                  <a:srgbClr val="1C1C1C"/>
                </a:solidFill>
              </a:rPr>
              <a:t>Pressure_MSL_hPa, Surface_Pressure_hPa</a:t>
            </a:r>
            <a:endParaRPr lang="en-US" sz="880" dirty="0"/>
          </a:p>
        </p:txBody>
      </p:sp>
      <p:sp>
        <p:nvSpPr>
          <p:cNvPr id="50" name="Shape 48"/>
          <p:cNvSpPr/>
          <p:nvPr/>
        </p:nvSpPr>
        <p:spPr>
          <a:xfrm>
            <a:off x="274320" y="4032504"/>
            <a:ext cx="4251960" cy="457200"/>
          </a:xfrm>
          <a:prstGeom prst="rect">
            <a:avLst/>
          </a:prstGeom>
          <a:solidFill>
            <a:srgbClr val="F1F8E9"/>
          </a:solidFill>
          <a:ln w="12700">
            <a:solidFill>
              <a:srgbClr val="A5D6A7"/>
            </a:solidFill>
            <a:prstDash val="solid"/>
          </a:ln>
        </p:spPr>
      </p:sp>
      <p:sp>
        <p:nvSpPr>
          <p:cNvPr id="51" name="Shape 49"/>
          <p:cNvSpPr/>
          <p:nvPr/>
        </p:nvSpPr>
        <p:spPr>
          <a:xfrm>
            <a:off x="274320" y="4032504"/>
            <a:ext cx="1417320" cy="457200"/>
          </a:xfrm>
          <a:prstGeom prst="rect">
            <a:avLst/>
          </a:prstGeom>
          <a:solidFill>
            <a:srgbClr val="E8F5E9"/>
          </a:solidFill>
          <a:ln w="12700">
            <a:solidFill>
              <a:srgbClr val="A5D6A7"/>
            </a:solidFill>
            <a:prstDash val="solid"/>
          </a:ln>
        </p:spPr>
      </p:sp>
      <p:sp>
        <p:nvSpPr>
          <p:cNvPr id="52" name="Text 50"/>
          <p:cNvSpPr/>
          <p:nvPr/>
        </p:nvSpPr>
        <p:spPr>
          <a:xfrm>
            <a:off x="329184" y="4105656"/>
            <a:ext cx="1325880" cy="310896"/>
          </a:xfrm>
          <a:prstGeom prst="rect">
            <a:avLst/>
          </a:prstGeom>
          <a:noFill/>
          <a:ln/>
        </p:spPr>
        <p:txBody>
          <a:bodyPr wrap="square" rtlCol="0" anchor="ctr"/>
          <a:lstStyle/>
          <a:p>
            <a:pPr marL="0" indent="0">
              <a:buNone/>
            </a:pPr>
            <a:r>
              <a:rPr lang="en-US" sz="950" b="1" dirty="0">
                <a:solidFill>
                  <a:srgbClr val="2E7D32"/>
                </a:solidFill>
              </a:rPr>
              <a:t> Solar/Cloud</a:t>
            </a:r>
            <a:endParaRPr lang="en-US" sz="950" dirty="0"/>
          </a:p>
        </p:txBody>
      </p:sp>
      <p:sp>
        <p:nvSpPr>
          <p:cNvPr id="53" name="Text 51"/>
          <p:cNvSpPr/>
          <p:nvPr/>
        </p:nvSpPr>
        <p:spPr>
          <a:xfrm>
            <a:off x="1755648" y="4105656"/>
            <a:ext cx="2715768" cy="310896"/>
          </a:xfrm>
          <a:prstGeom prst="rect">
            <a:avLst/>
          </a:prstGeom>
          <a:noFill/>
          <a:ln/>
        </p:spPr>
        <p:txBody>
          <a:bodyPr wrap="square" rtlCol="0" anchor="ctr"/>
          <a:lstStyle/>
          <a:p>
            <a:pPr marL="0" indent="0">
              <a:buNone/>
            </a:pPr>
            <a:r>
              <a:rPr lang="en-US" sz="880" dirty="0">
                <a:solidFill>
                  <a:srgbClr val="1C1C1C"/>
                </a:solidFill>
              </a:rPr>
              <a:t>Solar_Radiation_Wm2, Cloud_Cover_Percent, Sunshine_Seconds</a:t>
            </a:r>
            <a:endParaRPr lang="en-US" sz="880" dirty="0"/>
          </a:p>
        </p:txBody>
      </p:sp>
      <p:sp>
        <p:nvSpPr>
          <p:cNvPr id="54" name="Shape 52"/>
          <p:cNvSpPr/>
          <p:nvPr/>
        </p:nvSpPr>
        <p:spPr>
          <a:xfrm>
            <a:off x="4709160" y="4032504"/>
            <a:ext cx="4251960" cy="457200"/>
          </a:xfrm>
          <a:prstGeom prst="rect">
            <a:avLst/>
          </a:prstGeom>
          <a:solidFill>
            <a:srgbClr val="F1F8E9"/>
          </a:solidFill>
          <a:ln w="12700">
            <a:solidFill>
              <a:srgbClr val="A5D6A7"/>
            </a:solidFill>
            <a:prstDash val="solid"/>
          </a:ln>
        </p:spPr>
      </p:sp>
      <p:sp>
        <p:nvSpPr>
          <p:cNvPr id="55" name="Shape 53"/>
          <p:cNvSpPr/>
          <p:nvPr/>
        </p:nvSpPr>
        <p:spPr>
          <a:xfrm>
            <a:off x="4709160" y="4032504"/>
            <a:ext cx="1417320" cy="457200"/>
          </a:xfrm>
          <a:prstGeom prst="rect">
            <a:avLst/>
          </a:prstGeom>
          <a:solidFill>
            <a:srgbClr val="E8F5E9"/>
          </a:solidFill>
          <a:ln w="12700">
            <a:solidFill>
              <a:srgbClr val="A5D6A7"/>
            </a:solidFill>
            <a:prstDash val="solid"/>
          </a:ln>
        </p:spPr>
      </p:sp>
      <p:sp>
        <p:nvSpPr>
          <p:cNvPr id="56" name="Text 54"/>
          <p:cNvSpPr/>
          <p:nvPr/>
        </p:nvSpPr>
        <p:spPr>
          <a:xfrm>
            <a:off x="4764024" y="4105656"/>
            <a:ext cx="1325880" cy="310896"/>
          </a:xfrm>
          <a:prstGeom prst="rect">
            <a:avLst/>
          </a:prstGeom>
          <a:noFill/>
          <a:ln/>
        </p:spPr>
        <p:txBody>
          <a:bodyPr wrap="square" rtlCol="0" anchor="ctr"/>
          <a:lstStyle/>
          <a:p>
            <a:pPr marL="0" indent="0">
              <a:buNone/>
            </a:pPr>
            <a:r>
              <a:rPr lang="en-US" sz="950" b="1" dirty="0">
                <a:solidFill>
                  <a:srgbClr val="2E7D32"/>
                </a:solidFill>
              </a:rPr>
              <a:t> Pollution</a:t>
            </a:r>
            <a:endParaRPr lang="en-US" sz="950" dirty="0"/>
          </a:p>
        </p:txBody>
      </p:sp>
      <p:sp>
        <p:nvSpPr>
          <p:cNvPr id="57" name="Text 55"/>
          <p:cNvSpPr/>
          <p:nvPr/>
        </p:nvSpPr>
        <p:spPr>
          <a:xfrm>
            <a:off x="6190488" y="4105656"/>
            <a:ext cx="2715768" cy="310896"/>
          </a:xfrm>
          <a:prstGeom prst="rect">
            <a:avLst/>
          </a:prstGeom>
          <a:noFill/>
          <a:ln/>
        </p:spPr>
        <p:txBody>
          <a:bodyPr wrap="square" rtlCol="0" anchor="ctr"/>
          <a:lstStyle/>
          <a:p>
            <a:pPr marL="0" indent="0">
              <a:buNone/>
            </a:pPr>
            <a:r>
              <a:rPr lang="en-US" sz="880" dirty="0">
                <a:solidFill>
                  <a:srgbClr val="1C1C1C"/>
                </a:solidFill>
              </a:rPr>
              <a:t>PM2.5, PM10, CO, NO2, SO2, O3, Dust, AOD</a:t>
            </a:r>
            <a:endParaRPr lang="en-US" sz="880" dirty="0"/>
          </a:p>
        </p:txBody>
      </p:sp>
      <p:sp>
        <p:nvSpPr>
          <p:cNvPr id="58" name="Shape 56"/>
          <p:cNvSpPr/>
          <p:nvPr/>
        </p:nvSpPr>
        <p:spPr>
          <a:xfrm>
            <a:off x="274320" y="4553712"/>
            <a:ext cx="4251960" cy="457200"/>
          </a:xfrm>
          <a:prstGeom prst="rect">
            <a:avLst/>
          </a:prstGeom>
          <a:solidFill>
            <a:srgbClr val="FFFFFF"/>
          </a:solidFill>
          <a:ln w="12700">
            <a:solidFill>
              <a:srgbClr val="A5D6A7"/>
            </a:solidFill>
            <a:prstDash val="solid"/>
          </a:ln>
        </p:spPr>
      </p:sp>
      <p:sp>
        <p:nvSpPr>
          <p:cNvPr id="59" name="Shape 57"/>
          <p:cNvSpPr/>
          <p:nvPr/>
        </p:nvSpPr>
        <p:spPr>
          <a:xfrm>
            <a:off x="274320" y="4553712"/>
            <a:ext cx="1417320" cy="457200"/>
          </a:xfrm>
          <a:prstGeom prst="rect">
            <a:avLst/>
          </a:prstGeom>
          <a:solidFill>
            <a:srgbClr val="E8F5E9"/>
          </a:solidFill>
          <a:ln w="12700">
            <a:solidFill>
              <a:srgbClr val="A5D6A7"/>
            </a:solidFill>
            <a:prstDash val="solid"/>
          </a:ln>
        </p:spPr>
      </p:sp>
      <p:sp>
        <p:nvSpPr>
          <p:cNvPr id="60" name="Text 58"/>
          <p:cNvSpPr/>
          <p:nvPr/>
        </p:nvSpPr>
        <p:spPr>
          <a:xfrm>
            <a:off x="329184" y="4626864"/>
            <a:ext cx="1325880" cy="310896"/>
          </a:xfrm>
          <a:prstGeom prst="rect">
            <a:avLst/>
          </a:prstGeom>
          <a:noFill/>
          <a:ln/>
        </p:spPr>
        <p:txBody>
          <a:bodyPr wrap="square" rtlCol="0" anchor="ctr"/>
          <a:lstStyle/>
          <a:p>
            <a:pPr marL="0" indent="0">
              <a:buNone/>
            </a:pPr>
            <a:r>
              <a:rPr lang="en-US" sz="950" b="1" dirty="0">
                <a:solidFill>
                  <a:srgbClr val="2E7D32"/>
                </a:solidFill>
              </a:rPr>
              <a:t> AQI</a:t>
            </a:r>
            <a:endParaRPr lang="en-US" sz="950" dirty="0"/>
          </a:p>
        </p:txBody>
      </p:sp>
      <p:sp>
        <p:nvSpPr>
          <p:cNvPr id="61" name="Text 59"/>
          <p:cNvSpPr/>
          <p:nvPr/>
        </p:nvSpPr>
        <p:spPr>
          <a:xfrm>
            <a:off x="1755648" y="4626864"/>
            <a:ext cx="2715768" cy="310896"/>
          </a:xfrm>
          <a:prstGeom prst="rect">
            <a:avLst/>
          </a:prstGeom>
          <a:noFill/>
          <a:ln/>
        </p:spPr>
        <p:txBody>
          <a:bodyPr wrap="square" rtlCol="0" anchor="ctr"/>
          <a:lstStyle/>
          <a:p>
            <a:pPr marL="0" indent="0">
              <a:buNone/>
            </a:pPr>
            <a:r>
              <a:rPr lang="en-US" sz="880" dirty="0">
                <a:solidFill>
                  <a:srgbClr val="1C1C1C"/>
                </a:solidFill>
              </a:rPr>
              <a:t>US_AQI, EU_AQI, AQI_Category</a:t>
            </a:r>
            <a:endParaRPr lang="en-US" sz="880" dirty="0"/>
          </a:p>
        </p:txBody>
      </p:sp>
      <p:sp>
        <p:nvSpPr>
          <p:cNvPr id="62" name="Shape 60"/>
          <p:cNvSpPr/>
          <p:nvPr/>
        </p:nvSpPr>
        <p:spPr>
          <a:xfrm>
            <a:off x="4709160" y="4553712"/>
            <a:ext cx="4251960" cy="457200"/>
          </a:xfrm>
          <a:prstGeom prst="rect">
            <a:avLst/>
          </a:prstGeom>
          <a:solidFill>
            <a:srgbClr val="FFFFFF"/>
          </a:solidFill>
          <a:ln w="12700">
            <a:solidFill>
              <a:srgbClr val="A5D6A7"/>
            </a:solidFill>
            <a:prstDash val="solid"/>
          </a:ln>
        </p:spPr>
      </p:sp>
      <p:sp>
        <p:nvSpPr>
          <p:cNvPr id="63" name="Shape 61"/>
          <p:cNvSpPr/>
          <p:nvPr/>
        </p:nvSpPr>
        <p:spPr>
          <a:xfrm>
            <a:off x="4709160" y="4553712"/>
            <a:ext cx="1417320" cy="457200"/>
          </a:xfrm>
          <a:prstGeom prst="rect">
            <a:avLst/>
          </a:prstGeom>
          <a:solidFill>
            <a:srgbClr val="E8F5E9"/>
          </a:solidFill>
          <a:ln w="12700">
            <a:solidFill>
              <a:srgbClr val="A5D6A7"/>
            </a:solidFill>
            <a:prstDash val="solid"/>
          </a:ln>
        </p:spPr>
      </p:sp>
      <p:sp>
        <p:nvSpPr>
          <p:cNvPr id="64" name="Text 62"/>
          <p:cNvSpPr/>
          <p:nvPr/>
        </p:nvSpPr>
        <p:spPr>
          <a:xfrm>
            <a:off x="4764024" y="4626864"/>
            <a:ext cx="1325880" cy="310896"/>
          </a:xfrm>
          <a:prstGeom prst="rect">
            <a:avLst/>
          </a:prstGeom>
          <a:noFill/>
          <a:ln/>
        </p:spPr>
        <p:txBody>
          <a:bodyPr wrap="square" rtlCol="0" anchor="ctr"/>
          <a:lstStyle/>
          <a:p>
            <a:pPr marL="0" indent="0">
              <a:buNone/>
            </a:pPr>
            <a:r>
              <a:rPr lang="en-US" sz="950" b="1" dirty="0">
                <a:solidFill>
                  <a:srgbClr val="2E7D32"/>
                </a:solidFill>
              </a:rPr>
              <a:t> Special</a:t>
            </a:r>
            <a:endParaRPr lang="en-US" sz="950" dirty="0"/>
          </a:p>
        </p:txBody>
      </p:sp>
      <p:sp>
        <p:nvSpPr>
          <p:cNvPr id="65" name="Text 63"/>
          <p:cNvSpPr/>
          <p:nvPr/>
        </p:nvSpPr>
        <p:spPr>
          <a:xfrm>
            <a:off x="6190488" y="4626864"/>
            <a:ext cx="2715768" cy="310896"/>
          </a:xfrm>
          <a:prstGeom prst="rect">
            <a:avLst/>
          </a:prstGeom>
          <a:noFill/>
          <a:ln/>
        </p:spPr>
        <p:txBody>
          <a:bodyPr wrap="square" rtlCol="0" anchor="ctr"/>
          <a:lstStyle/>
          <a:p>
            <a:pPr marL="0" indent="0">
              <a:buNone/>
            </a:pPr>
            <a:r>
              <a:rPr lang="en-US" sz="880" dirty="0">
                <a:solidFill>
                  <a:srgbClr val="1C1C1C"/>
                </a:solidFill>
              </a:rPr>
              <a:t>Temp_Inversion, Festival_Period, Crop_Burning_Season</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5E20"/>
          </a:solidFill>
          <a:ln w="12700">
            <a:solidFill>
              <a:srgbClr val="1B5E20"/>
            </a:solidFill>
            <a:prstDash val="solid"/>
          </a:ln>
        </p:spPr>
      </p:sp>
      <p:sp>
        <p:nvSpPr>
          <p:cNvPr id="3" name="Text 1"/>
          <p:cNvSpPr/>
          <p:nvPr/>
        </p:nvSpPr>
        <p:spPr>
          <a:xfrm>
            <a:off x="320040" y="0"/>
            <a:ext cx="8503920" cy="502920"/>
          </a:xfrm>
          <a:prstGeom prst="rect">
            <a:avLst/>
          </a:prstGeom>
          <a:noFill/>
          <a:ln/>
        </p:spPr>
        <p:txBody>
          <a:bodyPr wrap="square" rtlCol="0" anchor="ctr"/>
          <a:lstStyle/>
          <a:p>
            <a:pPr marL="0" indent="0">
              <a:buNone/>
            </a:pPr>
            <a:endParaRPr lang="en-US" sz="1000" dirty="0"/>
          </a:p>
        </p:txBody>
      </p:sp>
      <p:sp>
        <p:nvSpPr>
          <p:cNvPr id="4" name="Text 2"/>
          <p:cNvSpPr/>
          <p:nvPr/>
        </p:nvSpPr>
        <p:spPr>
          <a:xfrm>
            <a:off x="137160" y="76317"/>
            <a:ext cx="8503920" cy="384048"/>
          </a:xfrm>
          <a:prstGeom prst="rect">
            <a:avLst/>
          </a:prstGeom>
          <a:noFill/>
          <a:ln/>
        </p:spPr>
        <p:txBody>
          <a:bodyPr wrap="square" rtlCol="0" anchor="ctr"/>
          <a:lstStyle/>
          <a:p>
            <a:pPr marL="0" indent="0">
              <a:buNone/>
            </a:pPr>
            <a:r>
              <a:rPr lang="en-US" sz="2000" b="1" dirty="0">
                <a:solidFill>
                  <a:srgbClr val="1C1C1C"/>
                </a:solidFill>
              </a:rPr>
              <a:t>Interactive Dashboard — Analysis &amp; Insights</a:t>
            </a:r>
            <a:endParaRPr lang="en-US" sz="2000" dirty="0"/>
          </a:p>
        </p:txBody>
      </p:sp>
      <p:pic>
        <p:nvPicPr>
          <p:cNvPr id="5" name="Image 0" descr="/home/claude/fig_dashboard.png"/>
          <p:cNvPicPr>
            <a:picLocks noChangeAspect="1"/>
          </p:cNvPicPr>
          <p:nvPr/>
        </p:nvPicPr>
        <p:blipFill>
          <a:blip r:embed="rId3"/>
          <a:stretch>
            <a:fillRect/>
          </a:stretch>
        </p:blipFill>
        <p:spPr>
          <a:xfrm>
            <a:off x="203982" y="668215"/>
            <a:ext cx="4297680" cy="3464873"/>
          </a:xfrm>
          <a:prstGeom prst="rect">
            <a:avLst/>
          </a:prstGeom>
        </p:spPr>
      </p:pic>
      <p:sp>
        <p:nvSpPr>
          <p:cNvPr id="6" name="Text 3"/>
          <p:cNvSpPr/>
          <p:nvPr/>
        </p:nvSpPr>
        <p:spPr>
          <a:xfrm>
            <a:off x="4480560" y="1024128"/>
            <a:ext cx="4389120" cy="274320"/>
          </a:xfrm>
          <a:prstGeom prst="rect">
            <a:avLst/>
          </a:prstGeom>
          <a:noFill/>
          <a:ln/>
        </p:spPr>
        <p:txBody>
          <a:bodyPr wrap="square" rtlCol="0" anchor="ctr"/>
          <a:lstStyle/>
          <a:p>
            <a:pPr marL="0" indent="0">
              <a:buNone/>
            </a:pPr>
            <a:r>
              <a:rPr lang="en-US" sz="1200" b="1" dirty="0">
                <a:solidFill>
                  <a:srgbClr val="2E7D32"/>
                </a:solidFill>
              </a:rPr>
              <a:t>What the Dashboard Analyses:</a:t>
            </a:r>
            <a:endParaRPr lang="en-US" sz="1200" dirty="0"/>
          </a:p>
        </p:txBody>
      </p:sp>
      <p:sp>
        <p:nvSpPr>
          <p:cNvPr id="7" name="Shape 4"/>
          <p:cNvSpPr/>
          <p:nvPr/>
        </p:nvSpPr>
        <p:spPr>
          <a:xfrm>
            <a:off x="4480560" y="1371600"/>
            <a:ext cx="4389120" cy="493776"/>
          </a:xfrm>
          <a:prstGeom prst="rect">
            <a:avLst/>
          </a:prstGeom>
          <a:solidFill>
            <a:srgbClr val="FFFFFF"/>
          </a:solidFill>
          <a:ln w="12700">
            <a:solidFill>
              <a:srgbClr val="A5D6A7"/>
            </a:solidFill>
            <a:prstDash val="solid"/>
          </a:ln>
        </p:spPr>
      </p:sp>
      <p:sp>
        <p:nvSpPr>
          <p:cNvPr id="8" name="Shape 5"/>
          <p:cNvSpPr/>
          <p:nvPr/>
        </p:nvSpPr>
        <p:spPr>
          <a:xfrm>
            <a:off x="4480560" y="1371600"/>
            <a:ext cx="347472" cy="493776"/>
          </a:xfrm>
          <a:prstGeom prst="rect">
            <a:avLst/>
          </a:prstGeom>
          <a:solidFill>
            <a:srgbClr val="2E7D32"/>
          </a:solidFill>
          <a:ln w="12700">
            <a:solidFill>
              <a:srgbClr val="2E7D32"/>
            </a:solidFill>
            <a:prstDash val="solid"/>
          </a:ln>
        </p:spPr>
        <p:txBody>
          <a:bodyPr/>
          <a:lstStyle/>
          <a:p>
            <a:r>
              <a:rPr lang="en-IN" dirty="0"/>
              <a:t>1</a:t>
            </a:r>
          </a:p>
        </p:txBody>
      </p:sp>
      <p:sp>
        <p:nvSpPr>
          <p:cNvPr id="9" name="Text 6"/>
          <p:cNvSpPr/>
          <p:nvPr/>
        </p:nvSpPr>
        <p:spPr>
          <a:xfrm>
            <a:off x="4480560" y="1371600"/>
            <a:ext cx="347472" cy="493776"/>
          </a:xfrm>
          <a:prstGeom prst="rect">
            <a:avLst/>
          </a:prstGeom>
          <a:noFill/>
          <a:ln/>
        </p:spPr>
        <p:txBody>
          <a:bodyPr wrap="square" rtlCol="0" anchor="ctr"/>
          <a:lstStyle/>
          <a:p>
            <a:pPr marL="0" indent="0" algn="ctr">
              <a:buNone/>
            </a:pPr>
            <a:endParaRPr lang="en-US" sz="1200" dirty="0"/>
          </a:p>
        </p:txBody>
      </p:sp>
      <p:sp>
        <p:nvSpPr>
          <p:cNvPr id="10" name="Text 7"/>
          <p:cNvSpPr/>
          <p:nvPr/>
        </p:nvSpPr>
        <p:spPr>
          <a:xfrm>
            <a:off x="4892040" y="1408176"/>
            <a:ext cx="3913632" cy="201168"/>
          </a:xfrm>
          <a:prstGeom prst="rect">
            <a:avLst/>
          </a:prstGeom>
          <a:noFill/>
          <a:ln/>
        </p:spPr>
        <p:txBody>
          <a:bodyPr wrap="square" rtlCol="0" anchor="ctr"/>
          <a:lstStyle/>
          <a:p>
            <a:pPr marL="0" indent="0">
              <a:buNone/>
            </a:pPr>
            <a:r>
              <a:rPr lang="en-US" sz="1000" b="1" dirty="0">
                <a:solidFill>
                  <a:srgbClr val="1C1C1C"/>
                </a:solidFill>
              </a:rPr>
              <a:t>India AQI Map</a:t>
            </a:r>
            <a:endParaRPr lang="en-US" sz="1000" dirty="0"/>
          </a:p>
        </p:txBody>
      </p:sp>
      <p:sp>
        <p:nvSpPr>
          <p:cNvPr id="11" name="Text 8"/>
          <p:cNvSpPr/>
          <p:nvPr/>
        </p:nvSpPr>
        <p:spPr>
          <a:xfrm>
            <a:off x="4892040" y="1618488"/>
            <a:ext cx="3913632" cy="182880"/>
          </a:xfrm>
          <a:prstGeom prst="rect">
            <a:avLst/>
          </a:prstGeom>
          <a:noFill/>
          <a:ln/>
        </p:spPr>
        <p:txBody>
          <a:bodyPr wrap="square" rtlCol="0" anchor="ctr"/>
          <a:lstStyle/>
          <a:p>
            <a:pPr marL="0" indent="0">
              <a:buNone/>
            </a:pPr>
            <a:r>
              <a:rPr lang="en-US" sz="880" dirty="0">
                <a:solidFill>
                  <a:srgbClr val="616161"/>
                </a:solidFill>
              </a:rPr>
              <a:t>Visualize city-wise pollution spread geographically</a:t>
            </a:r>
            <a:endParaRPr lang="en-US" sz="880" dirty="0"/>
          </a:p>
        </p:txBody>
      </p:sp>
      <p:sp>
        <p:nvSpPr>
          <p:cNvPr id="12" name="Shape 9"/>
          <p:cNvSpPr/>
          <p:nvPr/>
        </p:nvSpPr>
        <p:spPr>
          <a:xfrm>
            <a:off x="4480560" y="1938528"/>
            <a:ext cx="4389120" cy="493776"/>
          </a:xfrm>
          <a:prstGeom prst="rect">
            <a:avLst/>
          </a:prstGeom>
          <a:solidFill>
            <a:srgbClr val="E8F5E9"/>
          </a:solidFill>
          <a:ln w="12700">
            <a:solidFill>
              <a:srgbClr val="A5D6A7"/>
            </a:solidFill>
            <a:prstDash val="solid"/>
          </a:ln>
        </p:spPr>
      </p:sp>
      <p:sp>
        <p:nvSpPr>
          <p:cNvPr id="13" name="Shape 10"/>
          <p:cNvSpPr/>
          <p:nvPr/>
        </p:nvSpPr>
        <p:spPr>
          <a:xfrm>
            <a:off x="4480560" y="1938528"/>
            <a:ext cx="347472" cy="493776"/>
          </a:xfrm>
          <a:prstGeom prst="rect">
            <a:avLst/>
          </a:prstGeom>
          <a:solidFill>
            <a:srgbClr val="2E7D32"/>
          </a:solidFill>
          <a:ln w="12700">
            <a:solidFill>
              <a:srgbClr val="2E7D32"/>
            </a:solidFill>
            <a:prstDash val="solid"/>
          </a:ln>
        </p:spPr>
        <p:txBody>
          <a:bodyPr/>
          <a:lstStyle/>
          <a:p>
            <a:r>
              <a:rPr lang="en-IN" dirty="0"/>
              <a:t>2</a:t>
            </a:r>
          </a:p>
        </p:txBody>
      </p:sp>
      <p:sp>
        <p:nvSpPr>
          <p:cNvPr id="14" name="Text 11"/>
          <p:cNvSpPr/>
          <p:nvPr/>
        </p:nvSpPr>
        <p:spPr>
          <a:xfrm>
            <a:off x="4480560" y="1938528"/>
            <a:ext cx="347472" cy="493776"/>
          </a:xfrm>
          <a:prstGeom prst="rect">
            <a:avLst/>
          </a:prstGeom>
          <a:noFill/>
          <a:ln/>
        </p:spPr>
        <p:txBody>
          <a:bodyPr wrap="square" rtlCol="0" anchor="ctr"/>
          <a:lstStyle/>
          <a:p>
            <a:pPr marL="0" indent="0" algn="ctr">
              <a:buNone/>
            </a:pPr>
            <a:endParaRPr lang="en-US" sz="1200" dirty="0"/>
          </a:p>
        </p:txBody>
      </p:sp>
      <p:sp>
        <p:nvSpPr>
          <p:cNvPr id="15" name="Text 12"/>
          <p:cNvSpPr/>
          <p:nvPr/>
        </p:nvSpPr>
        <p:spPr>
          <a:xfrm>
            <a:off x="4892040" y="1975104"/>
            <a:ext cx="3913632" cy="201168"/>
          </a:xfrm>
          <a:prstGeom prst="rect">
            <a:avLst/>
          </a:prstGeom>
          <a:noFill/>
          <a:ln/>
        </p:spPr>
        <p:txBody>
          <a:bodyPr wrap="square" rtlCol="0" anchor="ctr"/>
          <a:lstStyle/>
          <a:p>
            <a:pPr marL="0" indent="0">
              <a:buNone/>
            </a:pPr>
            <a:r>
              <a:rPr lang="en-US" sz="1000" b="1" dirty="0">
                <a:solidFill>
                  <a:srgbClr val="1C1C1C"/>
                </a:solidFill>
              </a:rPr>
              <a:t>AQI Trend Over Time</a:t>
            </a:r>
            <a:endParaRPr lang="en-US" sz="1000" dirty="0"/>
          </a:p>
        </p:txBody>
      </p:sp>
      <p:sp>
        <p:nvSpPr>
          <p:cNvPr id="16" name="Text 13"/>
          <p:cNvSpPr/>
          <p:nvPr/>
        </p:nvSpPr>
        <p:spPr>
          <a:xfrm>
            <a:off x="4892040" y="2185416"/>
            <a:ext cx="3913632" cy="182880"/>
          </a:xfrm>
          <a:prstGeom prst="rect">
            <a:avLst/>
          </a:prstGeom>
          <a:noFill/>
          <a:ln/>
        </p:spPr>
        <p:txBody>
          <a:bodyPr wrap="square" rtlCol="0" anchor="ctr"/>
          <a:lstStyle/>
          <a:p>
            <a:pPr marL="0" indent="0">
              <a:buNone/>
            </a:pPr>
            <a:r>
              <a:rPr lang="en-US" sz="880" dirty="0">
                <a:solidFill>
                  <a:srgbClr val="616161"/>
                </a:solidFill>
              </a:rPr>
              <a:t>Identify seasonal spikes Nov–Dec worst due to crop burning</a:t>
            </a:r>
            <a:endParaRPr lang="en-US" sz="880" dirty="0"/>
          </a:p>
        </p:txBody>
      </p:sp>
      <p:sp>
        <p:nvSpPr>
          <p:cNvPr id="17" name="Shape 14"/>
          <p:cNvSpPr/>
          <p:nvPr/>
        </p:nvSpPr>
        <p:spPr>
          <a:xfrm>
            <a:off x="4480560" y="2505456"/>
            <a:ext cx="4389120" cy="493776"/>
          </a:xfrm>
          <a:prstGeom prst="rect">
            <a:avLst/>
          </a:prstGeom>
          <a:solidFill>
            <a:srgbClr val="FFFFFF"/>
          </a:solidFill>
          <a:ln w="12700">
            <a:solidFill>
              <a:srgbClr val="A5D6A7"/>
            </a:solidFill>
            <a:prstDash val="solid"/>
          </a:ln>
        </p:spPr>
      </p:sp>
      <p:sp>
        <p:nvSpPr>
          <p:cNvPr id="18" name="Shape 15"/>
          <p:cNvSpPr/>
          <p:nvPr/>
        </p:nvSpPr>
        <p:spPr>
          <a:xfrm>
            <a:off x="4480560" y="2505456"/>
            <a:ext cx="347472" cy="493776"/>
          </a:xfrm>
          <a:prstGeom prst="rect">
            <a:avLst/>
          </a:prstGeom>
          <a:solidFill>
            <a:srgbClr val="2E7D32"/>
          </a:solidFill>
          <a:ln w="12700">
            <a:solidFill>
              <a:srgbClr val="2E7D32"/>
            </a:solidFill>
            <a:prstDash val="solid"/>
          </a:ln>
        </p:spPr>
        <p:txBody>
          <a:bodyPr/>
          <a:lstStyle/>
          <a:p>
            <a:r>
              <a:rPr lang="en-IN" dirty="0"/>
              <a:t>3</a:t>
            </a:r>
          </a:p>
        </p:txBody>
      </p:sp>
      <p:sp>
        <p:nvSpPr>
          <p:cNvPr id="19" name="Text 16"/>
          <p:cNvSpPr/>
          <p:nvPr/>
        </p:nvSpPr>
        <p:spPr>
          <a:xfrm>
            <a:off x="4480560" y="2505456"/>
            <a:ext cx="347472" cy="493776"/>
          </a:xfrm>
          <a:prstGeom prst="rect">
            <a:avLst/>
          </a:prstGeom>
          <a:noFill/>
          <a:ln/>
        </p:spPr>
        <p:txBody>
          <a:bodyPr wrap="square" rtlCol="0" anchor="ctr"/>
          <a:lstStyle/>
          <a:p>
            <a:pPr marL="0" indent="0" algn="ctr">
              <a:buNone/>
            </a:pPr>
            <a:endParaRPr lang="en-US" sz="1200" dirty="0"/>
          </a:p>
        </p:txBody>
      </p:sp>
      <p:sp>
        <p:nvSpPr>
          <p:cNvPr id="20" name="Text 17"/>
          <p:cNvSpPr/>
          <p:nvPr/>
        </p:nvSpPr>
        <p:spPr>
          <a:xfrm>
            <a:off x="4892040" y="2542032"/>
            <a:ext cx="3913632" cy="201168"/>
          </a:xfrm>
          <a:prstGeom prst="rect">
            <a:avLst/>
          </a:prstGeom>
          <a:noFill/>
          <a:ln/>
        </p:spPr>
        <p:txBody>
          <a:bodyPr wrap="square" rtlCol="0" anchor="ctr"/>
          <a:lstStyle/>
          <a:p>
            <a:pPr marL="0" indent="0">
              <a:buNone/>
            </a:pPr>
            <a:r>
              <a:rPr lang="en-US" sz="1000" b="1" dirty="0">
                <a:solidFill>
                  <a:srgbClr val="1C1C1C"/>
                </a:solidFill>
              </a:rPr>
              <a:t>Top Polluted Cities</a:t>
            </a:r>
            <a:endParaRPr lang="en-US" sz="1000" dirty="0"/>
          </a:p>
        </p:txBody>
      </p:sp>
      <p:sp>
        <p:nvSpPr>
          <p:cNvPr id="21" name="Text 18"/>
          <p:cNvSpPr/>
          <p:nvPr/>
        </p:nvSpPr>
        <p:spPr>
          <a:xfrm>
            <a:off x="4892040" y="2752344"/>
            <a:ext cx="3913632" cy="182880"/>
          </a:xfrm>
          <a:prstGeom prst="rect">
            <a:avLst/>
          </a:prstGeom>
          <a:noFill/>
          <a:ln/>
        </p:spPr>
        <p:txBody>
          <a:bodyPr wrap="square" rtlCol="0" anchor="ctr"/>
          <a:lstStyle/>
          <a:p>
            <a:pPr marL="0" indent="0">
              <a:buNone/>
            </a:pPr>
            <a:r>
              <a:rPr lang="en-US" sz="880" dirty="0">
                <a:solidFill>
                  <a:srgbClr val="616161"/>
                </a:solidFill>
              </a:rPr>
              <a:t>Rank cities — Delhi (154), Gurugram (153), Patna (146)</a:t>
            </a:r>
            <a:endParaRPr lang="en-US" sz="880" dirty="0"/>
          </a:p>
        </p:txBody>
      </p:sp>
      <p:sp>
        <p:nvSpPr>
          <p:cNvPr id="22" name="Shape 19"/>
          <p:cNvSpPr/>
          <p:nvPr/>
        </p:nvSpPr>
        <p:spPr>
          <a:xfrm>
            <a:off x="4480560" y="3072384"/>
            <a:ext cx="4389120" cy="493776"/>
          </a:xfrm>
          <a:prstGeom prst="rect">
            <a:avLst/>
          </a:prstGeom>
          <a:solidFill>
            <a:srgbClr val="E8F5E9"/>
          </a:solidFill>
          <a:ln w="12700">
            <a:solidFill>
              <a:srgbClr val="A5D6A7"/>
            </a:solidFill>
            <a:prstDash val="solid"/>
          </a:ln>
        </p:spPr>
      </p:sp>
      <p:sp>
        <p:nvSpPr>
          <p:cNvPr id="23" name="Shape 20"/>
          <p:cNvSpPr/>
          <p:nvPr/>
        </p:nvSpPr>
        <p:spPr>
          <a:xfrm>
            <a:off x="4480560" y="3072384"/>
            <a:ext cx="347472" cy="493776"/>
          </a:xfrm>
          <a:prstGeom prst="rect">
            <a:avLst/>
          </a:prstGeom>
          <a:solidFill>
            <a:srgbClr val="2E7D32"/>
          </a:solidFill>
          <a:ln w="12700">
            <a:solidFill>
              <a:srgbClr val="2E7D32"/>
            </a:solidFill>
            <a:prstDash val="solid"/>
          </a:ln>
        </p:spPr>
        <p:txBody>
          <a:bodyPr/>
          <a:lstStyle/>
          <a:p>
            <a:r>
              <a:rPr lang="en-IN" dirty="0"/>
              <a:t>4</a:t>
            </a:r>
          </a:p>
        </p:txBody>
      </p:sp>
      <p:sp>
        <p:nvSpPr>
          <p:cNvPr id="24" name="Text 21"/>
          <p:cNvSpPr/>
          <p:nvPr/>
        </p:nvSpPr>
        <p:spPr>
          <a:xfrm>
            <a:off x="4480560" y="3072384"/>
            <a:ext cx="347472" cy="493776"/>
          </a:xfrm>
          <a:prstGeom prst="rect">
            <a:avLst/>
          </a:prstGeom>
          <a:noFill/>
          <a:ln/>
        </p:spPr>
        <p:txBody>
          <a:bodyPr wrap="square" rtlCol="0" anchor="ctr"/>
          <a:lstStyle/>
          <a:p>
            <a:pPr marL="0" indent="0" algn="ctr">
              <a:buNone/>
            </a:pPr>
            <a:endParaRPr lang="en-US" sz="1200" dirty="0"/>
          </a:p>
        </p:txBody>
      </p:sp>
      <p:sp>
        <p:nvSpPr>
          <p:cNvPr id="25" name="Text 22"/>
          <p:cNvSpPr/>
          <p:nvPr/>
        </p:nvSpPr>
        <p:spPr>
          <a:xfrm>
            <a:off x="4892040" y="3108960"/>
            <a:ext cx="3913632" cy="201168"/>
          </a:xfrm>
          <a:prstGeom prst="rect">
            <a:avLst/>
          </a:prstGeom>
          <a:noFill/>
          <a:ln/>
        </p:spPr>
        <p:txBody>
          <a:bodyPr wrap="square" rtlCol="0" anchor="ctr"/>
          <a:lstStyle/>
          <a:p>
            <a:pPr marL="0" indent="0">
              <a:buNone/>
            </a:pPr>
            <a:r>
              <a:rPr lang="en-US" sz="1000" b="1" dirty="0">
                <a:solidFill>
                  <a:srgbClr val="1C1C1C"/>
                </a:solidFill>
              </a:rPr>
              <a:t>Pollutant Level Analysis</a:t>
            </a:r>
            <a:endParaRPr lang="en-US" sz="1000" dirty="0"/>
          </a:p>
        </p:txBody>
      </p:sp>
      <p:sp>
        <p:nvSpPr>
          <p:cNvPr id="26" name="Text 23"/>
          <p:cNvSpPr/>
          <p:nvPr/>
        </p:nvSpPr>
        <p:spPr>
          <a:xfrm>
            <a:off x="4892040" y="3319272"/>
            <a:ext cx="3913632" cy="182880"/>
          </a:xfrm>
          <a:prstGeom prst="rect">
            <a:avLst/>
          </a:prstGeom>
          <a:noFill/>
          <a:ln/>
        </p:spPr>
        <p:txBody>
          <a:bodyPr wrap="square" rtlCol="0" anchor="ctr"/>
          <a:lstStyle/>
          <a:p>
            <a:pPr marL="0" indent="0">
              <a:buNone/>
            </a:pPr>
            <a:r>
              <a:rPr lang="en-US" sz="880" dirty="0">
                <a:solidFill>
                  <a:srgbClr val="616161"/>
                </a:solidFill>
              </a:rPr>
              <a:t>Compare PM2.5, PM10, NO2, SO2 see which pollutant is highest</a:t>
            </a:r>
            <a:endParaRPr lang="en-US" sz="880" dirty="0"/>
          </a:p>
        </p:txBody>
      </p:sp>
      <p:sp>
        <p:nvSpPr>
          <p:cNvPr id="27" name="Shape 24"/>
          <p:cNvSpPr/>
          <p:nvPr/>
        </p:nvSpPr>
        <p:spPr>
          <a:xfrm>
            <a:off x="4480560" y="3639312"/>
            <a:ext cx="4389120" cy="493776"/>
          </a:xfrm>
          <a:prstGeom prst="rect">
            <a:avLst/>
          </a:prstGeom>
          <a:solidFill>
            <a:srgbClr val="FFFFFF"/>
          </a:solidFill>
          <a:ln w="12700">
            <a:solidFill>
              <a:srgbClr val="A5D6A7"/>
            </a:solidFill>
            <a:prstDash val="solid"/>
          </a:ln>
        </p:spPr>
      </p:sp>
      <p:sp>
        <p:nvSpPr>
          <p:cNvPr id="28" name="Shape 25"/>
          <p:cNvSpPr/>
          <p:nvPr/>
        </p:nvSpPr>
        <p:spPr>
          <a:xfrm>
            <a:off x="4480560" y="3639312"/>
            <a:ext cx="347472" cy="493776"/>
          </a:xfrm>
          <a:prstGeom prst="rect">
            <a:avLst/>
          </a:prstGeom>
          <a:solidFill>
            <a:srgbClr val="2E7D32"/>
          </a:solidFill>
          <a:ln w="12700">
            <a:solidFill>
              <a:srgbClr val="2E7D32"/>
            </a:solidFill>
            <a:prstDash val="solid"/>
          </a:ln>
        </p:spPr>
        <p:txBody>
          <a:bodyPr/>
          <a:lstStyle/>
          <a:p>
            <a:r>
              <a:rPr lang="en-IN" dirty="0"/>
              <a:t>5</a:t>
            </a:r>
          </a:p>
        </p:txBody>
      </p:sp>
      <p:sp>
        <p:nvSpPr>
          <p:cNvPr id="29" name="Text 26"/>
          <p:cNvSpPr/>
          <p:nvPr/>
        </p:nvSpPr>
        <p:spPr>
          <a:xfrm>
            <a:off x="4480560" y="3639312"/>
            <a:ext cx="347472" cy="493776"/>
          </a:xfrm>
          <a:prstGeom prst="rect">
            <a:avLst/>
          </a:prstGeom>
          <a:noFill/>
          <a:ln/>
        </p:spPr>
        <p:txBody>
          <a:bodyPr wrap="square" rtlCol="0" anchor="ctr"/>
          <a:lstStyle/>
          <a:p>
            <a:pPr marL="0" indent="0" algn="ctr">
              <a:buNone/>
            </a:pPr>
            <a:endParaRPr lang="en-US" sz="1200" dirty="0"/>
          </a:p>
        </p:txBody>
      </p:sp>
      <p:sp>
        <p:nvSpPr>
          <p:cNvPr id="30" name="Text 27"/>
          <p:cNvSpPr/>
          <p:nvPr/>
        </p:nvSpPr>
        <p:spPr>
          <a:xfrm>
            <a:off x="4892040" y="3675888"/>
            <a:ext cx="3913632" cy="201168"/>
          </a:xfrm>
          <a:prstGeom prst="rect">
            <a:avLst/>
          </a:prstGeom>
          <a:noFill/>
          <a:ln/>
        </p:spPr>
        <p:txBody>
          <a:bodyPr wrap="square" rtlCol="0" anchor="ctr"/>
          <a:lstStyle/>
          <a:p>
            <a:pPr marL="0" indent="0">
              <a:buNone/>
            </a:pPr>
            <a:r>
              <a:rPr lang="en-US" sz="1000" b="1" dirty="0">
                <a:solidFill>
                  <a:srgbClr val="1C1C1C"/>
                </a:solidFill>
              </a:rPr>
              <a:t>AQI Category Distribution</a:t>
            </a:r>
            <a:endParaRPr lang="en-US" sz="1000" dirty="0"/>
          </a:p>
        </p:txBody>
      </p:sp>
      <p:sp>
        <p:nvSpPr>
          <p:cNvPr id="31" name="Text 28"/>
          <p:cNvSpPr/>
          <p:nvPr/>
        </p:nvSpPr>
        <p:spPr>
          <a:xfrm>
            <a:off x="4892040" y="3886200"/>
            <a:ext cx="3913632" cy="182880"/>
          </a:xfrm>
          <a:prstGeom prst="rect">
            <a:avLst/>
          </a:prstGeom>
          <a:noFill/>
          <a:ln/>
        </p:spPr>
        <p:txBody>
          <a:bodyPr wrap="square" rtlCol="0" anchor="ctr"/>
          <a:lstStyle/>
          <a:p>
            <a:pPr marL="0" indent="0">
              <a:buNone/>
            </a:pPr>
            <a:r>
              <a:rPr lang="en-US" sz="880" dirty="0">
                <a:solidFill>
                  <a:srgbClr val="616161"/>
                </a:solidFill>
              </a:rPr>
              <a:t>See hours in Good / Moderate / Unhealthy / Hazardous buckets</a:t>
            </a:r>
            <a:endParaRPr lang="en-US" sz="880" dirty="0"/>
          </a:p>
        </p:txBody>
      </p:sp>
      <p:sp>
        <p:nvSpPr>
          <p:cNvPr id="32" name="Shape 29"/>
          <p:cNvSpPr/>
          <p:nvPr/>
        </p:nvSpPr>
        <p:spPr>
          <a:xfrm>
            <a:off x="4480560" y="4206240"/>
            <a:ext cx="4389120" cy="493776"/>
          </a:xfrm>
          <a:prstGeom prst="rect">
            <a:avLst/>
          </a:prstGeom>
          <a:solidFill>
            <a:srgbClr val="E8F5E9"/>
          </a:solidFill>
          <a:ln w="12700">
            <a:solidFill>
              <a:srgbClr val="A5D6A7"/>
            </a:solidFill>
            <a:prstDash val="solid"/>
          </a:ln>
        </p:spPr>
      </p:sp>
      <p:sp>
        <p:nvSpPr>
          <p:cNvPr id="33" name="Shape 30"/>
          <p:cNvSpPr/>
          <p:nvPr/>
        </p:nvSpPr>
        <p:spPr>
          <a:xfrm>
            <a:off x="4480560" y="4206240"/>
            <a:ext cx="347472" cy="493776"/>
          </a:xfrm>
          <a:prstGeom prst="rect">
            <a:avLst/>
          </a:prstGeom>
          <a:solidFill>
            <a:srgbClr val="2E7D32"/>
          </a:solidFill>
          <a:ln w="12700">
            <a:solidFill>
              <a:srgbClr val="2E7D32"/>
            </a:solidFill>
            <a:prstDash val="solid"/>
          </a:ln>
        </p:spPr>
        <p:txBody>
          <a:bodyPr/>
          <a:lstStyle/>
          <a:p>
            <a:r>
              <a:rPr lang="en-IN" dirty="0"/>
              <a:t>6</a:t>
            </a:r>
          </a:p>
        </p:txBody>
      </p:sp>
      <p:sp>
        <p:nvSpPr>
          <p:cNvPr id="34" name="Text 31"/>
          <p:cNvSpPr/>
          <p:nvPr/>
        </p:nvSpPr>
        <p:spPr>
          <a:xfrm>
            <a:off x="4480560" y="4206240"/>
            <a:ext cx="347472" cy="493776"/>
          </a:xfrm>
          <a:prstGeom prst="rect">
            <a:avLst/>
          </a:prstGeom>
          <a:noFill/>
          <a:ln/>
        </p:spPr>
        <p:txBody>
          <a:bodyPr wrap="square" rtlCol="0" anchor="ctr"/>
          <a:lstStyle/>
          <a:p>
            <a:pPr marL="0" indent="0" algn="ctr">
              <a:buNone/>
            </a:pPr>
            <a:endParaRPr lang="en-US" sz="1200" dirty="0"/>
          </a:p>
        </p:txBody>
      </p:sp>
      <p:sp>
        <p:nvSpPr>
          <p:cNvPr id="35" name="Text 32"/>
          <p:cNvSpPr/>
          <p:nvPr/>
        </p:nvSpPr>
        <p:spPr>
          <a:xfrm>
            <a:off x="4892040" y="4242816"/>
            <a:ext cx="3913632" cy="201168"/>
          </a:xfrm>
          <a:prstGeom prst="rect">
            <a:avLst/>
          </a:prstGeom>
          <a:noFill/>
          <a:ln/>
        </p:spPr>
        <p:txBody>
          <a:bodyPr wrap="square" rtlCol="0" anchor="ctr"/>
          <a:lstStyle/>
          <a:p>
            <a:pPr marL="0" indent="0">
              <a:buNone/>
            </a:pPr>
            <a:r>
              <a:rPr lang="en-US" sz="1000" b="1" dirty="0">
                <a:solidFill>
                  <a:srgbClr val="1C1C1C"/>
                </a:solidFill>
              </a:rPr>
              <a:t>Health Risk Prediction</a:t>
            </a:r>
            <a:endParaRPr lang="en-US" sz="1000" dirty="0"/>
          </a:p>
        </p:txBody>
      </p:sp>
      <p:sp>
        <p:nvSpPr>
          <p:cNvPr id="36" name="Text 33"/>
          <p:cNvSpPr/>
          <p:nvPr/>
        </p:nvSpPr>
        <p:spPr>
          <a:xfrm>
            <a:off x="4892040" y="4453128"/>
            <a:ext cx="3913632" cy="182880"/>
          </a:xfrm>
          <a:prstGeom prst="rect">
            <a:avLst/>
          </a:prstGeom>
          <a:noFill/>
          <a:ln/>
        </p:spPr>
        <p:txBody>
          <a:bodyPr wrap="square" rtlCol="0" anchor="ctr"/>
          <a:lstStyle/>
          <a:p>
            <a:pPr marL="0" indent="0">
              <a:buNone/>
            </a:pPr>
            <a:r>
              <a:rPr lang="en-US" sz="880" dirty="0">
                <a:solidFill>
                  <a:srgbClr val="616161"/>
                </a:solidFill>
              </a:rPr>
              <a:t>Predict risk level from </a:t>
            </a:r>
            <a:r>
              <a:rPr lang="en-US" sz="880">
                <a:solidFill>
                  <a:srgbClr val="616161"/>
                </a:solidFill>
              </a:rPr>
              <a:t>AQI and </a:t>
            </a:r>
            <a:r>
              <a:rPr lang="en-US" sz="880" dirty="0">
                <a:solidFill>
                  <a:srgbClr val="616161"/>
                </a:solidFill>
              </a:rPr>
              <a:t>weather input using ML model</a:t>
            </a:r>
            <a:endParaRPr lang="en-US" sz="880" dirty="0"/>
          </a:p>
        </p:txBody>
      </p:sp>
      <p:sp>
        <p:nvSpPr>
          <p:cNvPr id="37" name="Shape 34"/>
          <p:cNvSpPr/>
          <p:nvPr/>
        </p:nvSpPr>
        <p:spPr>
          <a:xfrm>
            <a:off x="274320" y="4773168"/>
            <a:ext cx="8595360" cy="347472"/>
          </a:xfrm>
          <a:prstGeom prst="rect">
            <a:avLst/>
          </a:prstGeom>
          <a:solidFill>
            <a:srgbClr val="E8F5E9"/>
          </a:solidFill>
          <a:ln w="12700">
            <a:solidFill>
              <a:srgbClr val="A5D6A7"/>
            </a:solidFill>
            <a:prstDash val="solid"/>
          </a:ln>
        </p:spPr>
      </p:sp>
      <p:sp>
        <p:nvSpPr>
          <p:cNvPr id="38" name="Text 35"/>
          <p:cNvSpPr/>
          <p:nvPr/>
        </p:nvSpPr>
        <p:spPr>
          <a:xfrm>
            <a:off x="411480" y="4809744"/>
            <a:ext cx="8321040" cy="274320"/>
          </a:xfrm>
          <a:prstGeom prst="rect">
            <a:avLst/>
          </a:prstGeom>
          <a:noFill/>
          <a:ln/>
        </p:spPr>
        <p:txBody>
          <a:bodyPr wrap="square" rtlCol="0" anchor="ctr"/>
          <a:lstStyle/>
          <a:p>
            <a:pPr marL="0" indent="0">
              <a:buNone/>
            </a:pPr>
            <a:r>
              <a:rPr lang="en-US" sz="950" dirty="0">
                <a:solidFill>
                  <a:srgbClr val="2E7D32"/>
                </a:solidFill>
              </a:rPr>
              <a:t>  Key Finding:  PM10 highest avg concentration  •  Moderate AQI dominates  •  AQI peaks Nov–Dec  •  Delhi most polluted city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5E20"/>
          </a:solidFill>
          <a:ln w="12700">
            <a:solidFill>
              <a:srgbClr val="1B5E20"/>
            </a:solidFill>
            <a:prstDash val="solid"/>
          </a:ln>
        </p:spPr>
      </p:sp>
      <p:sp>
        <p:nvSpPr>
          <p:cNvPr id="3" name="Text 1"/>
          <p:cNvSpPr/>
          <p:nvPr/>
        </p:nvSpPr>
        <p:spPr>
          <a:xfrm>
            <a:off x="320040" y="0"/>
            <a:ext cx="8503920" cy="502920"/>
          </a:xfrm>
          <a:prstGeom prst="rect">
            <a:avLst/>
          </a:prstGeom>
          <a:noFill/>
          <a:ln/>
        </p:spPr>
        <p:txBody>
          <a:bodyPr wrap="square" rtlCol="0" anchor="ctr"/>
          <a:lstStyle/>
          <a:p>
            <a:pPr marL="0" indent="0">
              <a:buNone/>
            </a:pPr>
            <a:endParaRPr lang="en-US" sz="1000" dirty="0"/>
          </a:p>
        </p:txBody>
      </p:sp>
      <p:sp>
        <p:nvSpPr>
          <p:cNvPr id="4" name="Text 2"/>
          <p:cNvSpPr/>
          <p:nvPr/>
        </p:nvSpPr>
        <p:spPr>
          <a:xfrm>
            <a:off x="94957" y="59436"/>
            <a:ext cx="8503920" cy="384048"/>
          </a:xfrm>
          <a:prstGeom prst="rect">
            <a:avLst/>
          </a:prstGeom>
          <a:noFill/>
          <a:ln/>
        </p:spPr>
        <p:txBody>
          <a:bodyPr wrap="square" rtlCol="0" anchor="ctr"/>
          <a:lstStyle/>
          <a:p>
            <a:pPr marL="0" indent="0">
              <a:buNone/>
            </a:pPr>
            <a:r>
              <a:rPr lang="en-US" sz="2000" b="1" dirty="0">
                <a:solidFill>
                  <a:srgbClr val="1C1C1C"/>
                </a:solidFill>
              </a:rPr>
              <a:t>Pollution Patterns &amp; City Rankings</a:t>
            </a:r>
            <a:endParaRPr lang="en-US" sz="2000" dirty="0"/>
          </a:p>
        </p:txBody>
      </p:sp>
      <p:sp>
        <p:nvSpPr>
          <p:cNvPr id="5" name="Text 3"/>
          <p:cNvSpPr/>
          <p:nvPr/>
        </p:nvSpPr>
        <p:spPr>
          <a:xfrm>
            <a:off x="274320" y="1051560"/>
            <a:ext cx="4297680" cy="256032"/>
          </a:xfrm>
          <a:prstGeom prst="rect">
            <a:avLst/>
          </a:prstGeom>
          <a:noFill/>
          <a:ln/>
        </p:spPr>
        <p:txBody>
          <a:bodyPr wrap="square" rtlCol="0" anchor="ctr"/>
          <a:lstStyle/>
          <a:p>
            <a:pPr marL="0" indent="0">
              <a:buNone/>
            </a:pPr>
            <a:r>
              <a:rPr lang="en-US" sz="1100" b="1" dirty="0">
                <a:solidFill>
                  <a:srgbClr val="2E7D32"/>
                </a:solidFill>
              </a:rPr>
              <a:t>Top Polluted Cities</a:t>
            </a:r>
            <a:endParaRPr lang="en-US" sz="1100" dirty="0"/>
          </a:p>
        </p:txBody>
      </p:sp>
      <p:pic>
        <p:nvPicPr>
          <p:cNvPr id="6" name="Image 0" descr="/home/claude/fig_top_cities.png"/>
          <p:cNvPicPr>
            <a:picLocks noChangeAspect="1"/>
          </p:cNvPicPr>
          <p:nvPr/>
        </p:nvPicPr>
        <p:blipFill>
          <a:blip r:embed="rId3"/>
          <a:stretch>
            <a:fillRect/>
          </a:stretch>
        </p:blipFill>
        <p:spPr>
          <a:xfrm>
            <a:off x="274320" y="1325880"/>
            <a:ext cx="4206240" cy="1737360"/>
          </a:xfrm>
          <a:prstGeom prst="rect">
            <a:avLst/>
          </a:prstGeom>
        </p:spPr>
      </p:pic>
      <p:sp>
        <p:nvSpPr>
          <p:cNvPr id="7" name="Text 4"/>
          <p:cNvSpPr/>
          <p:nvPr/>
        </p:nvSpPr>
        <p:spPr>
          <a:xfrm>
            <a:off x="4663440" y="1051560"/>
            <a:ext cx="4206240" cy="256032"/>
          </a:xfrm>
          <a:prstGeom prst="rect">
            <a:avLst/>
          </a:prstGeom>
          <a:noFill/>
          <a:ln/>
        </p:spPr>
        <p:txBody>
          <a:bodyPr wrap="square" rtlCol="0" anchor="ctr"/>
          <a:lstStyle/>
          <a:p>
            <a:pPr marL="0" indent="0">
              <a:buNone/>
            </a:pPr>
            <a:r>
              <a:rPr lang="en-US" sz="1100" b="1" dirty="0">
                <a:solidFill>
                  <a:srgbClr val="2E7D32"/>
                </a:solidFill>
              </a:rPr>
              <a:t>Pollutant Levels (PM2.5, PM10, NO2, SO2)</a:t>
            </a:r>
            <a:endParaRPr lang="en-US" sz="1100" dirty="0"/>
          </a:p>
        </p:txBody>
      </p:sp>
      <p:pic>
        <p:nvPicPr>
          <p:cNvPr id="8" name="Image 1" descr="/home/claude/fig_pollutant_levels.png"/>
          <p:cNvPicPr>
            <a:picLocks noChangeAspect="1"/>
          </p:cNvPicPr>
          <p:nvPr/>
        </p:nvPicPr>
        <p:blipFill>
          <a:blip r:embed="rId4"/>
          <a:stretch>
            <a:fillRect/>
          </a:stretch>
        </p:blipFill>
        <p:spPr>
          <a:xfrm>
            <a:off x="4663440" y="1325880"/>
            <a:ext cx="4206240" cy="1737360"/>
          </a:xfrm>
          <a:prstGeom prst="rect">
            <a:avLst/>
          </a:prstGeom>
        </p:spPr>
      </p:pic>
      <p:sp>
        <p:nvSpPr>
          <p:cNvPr id="9" name="Text 5"/>
          <p:cNvSpPr/>
          <p:nvPr/>
        </p:nvSpPr>
        <p:spPr>
          <a:xfrm>
            <a:off x="274320" y="3154680"/>
            <a:ext cx="4297680" cy="256032"/>
          </a:xfrm>
          <a:prstGeom prst="rect">
            <a:avLst/>
          </a:prstGeom>
          <a:noFill/>
          <a:ln/>
        </p:spPr>
        <p:txBody>
          <a:bodyPr wrap="square" rtlCol="0" anchor="ctr"/>
          <a:lstStyle/>
          <a:p>
            <a:pPr marL="0" indent="0">
              <a:buNone/>
            </a:pPr>
            <a:r>
              <a:rPr lang="en-US" sz="1100" b="1" dirty="0">
                <a:solidFill>
                  <a:srgbClr val="2E7D32"/>
                </a:solidFill>
              </a:rPr>
              <a:t>AQI Category Distribution</a:t>
            </a:r>
            <a:endParaRPr lang="en-US" sz="1100" dirty="0"/>
          </a:p>
        </p:txBody>
      </p:sp>
      <p:pic>
        <p:nvPicPr>
          <p:cNvPr id="10" name="Image 2" descr="/home/claude/fig_aqi_distribution.png"/>
          <p:cNvPicPr>
            <a:picLocks noChangeAspect="1"/>
          </p:cNvPicPr>
          <p:nvPr/>
        </p:nvPicPr>
        <p:blipFill>
          <a:blip r:embed="rId5"/>
          <a:stretch>
            <a:fillRect/>
          </a:stretch>
        </p:blipFill>
        <p:spPr>
          <a:xfrm>
            <a:off x="274320" y="3429000"/>
            <a:ext cx="4206240" cy="1508760"/>
          </a:xfrm>
          <a:prstGeom prst="rect">
            <a:avLst/>
          </a:prstGeom>
        </p:spPr>
      </p:pic>
      <p:sp>
        <p:nvSpPr>
          <p:cNvPr id="11" name="Text 6"/>
          <p:cNvSpPr/>
          <p:nvPr/>
        </p:nvSpPr>
        <p:spPr>
          <a:xfrm>
            <a:off x="4663440" y="3154680"/>
            <a:ext cx="4206240" cy="256032"/>
          </a:xfrm>
          <a:prstGeom prst="rect">
            <a:avLst/>
          </a:prstGeom>
          <a:noFill/>
          <a:ln/>
        </p:spPr>
        <p:txBody>
          <a:bodyPr wrap="square" rtlCol="0" anchor="ctr"/>
          <a:lstStyle/>
          <a:p>
            <a:pPr marL="0" indent="0">
              <a:buNone/>
            </a:pPr>
            <a:r>
              <a:rPr lang="en-US" sz="1100" b="1" dirty="0">
                <a:solidFill>
                  <a:srgbClr val="2E7D32"/>
                </a:solidFill>
              </a:rPr>
              <a:t>City Ranking Table</a:t>
            </a:r>
            <a:endParaRPr lang="en-US" sz="1100" dirty="0"/>
          </a:p>
        </p:txBody>
      </p:sp>
      <p:pic>
        <p:nvPicPr>
          <p:cNvPr id="12" name="Image 3" descr="/home/claude/fig_city_ranking.png"/>
          <p:cNvPicPr>
            <a:picLocks noChangeAspect="1"/>
          </p:cNvPicPr>
          <p:nvPr/>
        </p:nvPicPr>
        <p:blipFill>
          <a:blip r:embed="rId6"/>
          <a:stretch>
            <a:fillRect/>
          </a:stretch>
        </p:blipFill>
        <p:spPr>
          <a:xfrm>
            <a:off x="4663440" y="3429000"/>
            <a:ext cx="4206240" cy="15087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5E20"/>
          </a:solidFill>
          <a:ln w="12700">
            <a:solidFill>
              <a:srgbClr val="1B5E20"/>
            </a:solidFill>
            <a:prstDash val="solid"/>
          </a:ln>
        </p:spPr>
      </p:sp>
      <p:sp>
        <p:nvSpPr>
          <p:cNvPr id="3" name="Text 1"/>
          <p:cNvSpPr/>
          <p:nvPr/>
        </p:nvSpPr>
        <p:spPr>
          <a:xfrm>
            <a:off x="320040" y="0"/>
            <a:ext cx="8503920" cy="502920"/>
          </a:xfrm>
          <a:prstGeom prst="rect">
            <a:avLst/>
          </a:prstGeom>
          <a:noFill/>
          <a:ln/>
        </p:spPr>
        <p:txBody>
          <a:bodyPr wrap="square" rtlCol="0" anchor="ctr"/>
          <a:lstStyle/>
          <a:p>
            <a:pPr marL="0" indent="0">
              <a:buNone/>
            </a:pPr>
            <a:endParaRPr lang="en-US" sz="1000" dirty="0"/>
          </a:p>
        </p:txBody>
      </p:sp>
      <p:sp>
        <p:nvSpPr>
          <p:cNvPr id="4" name="Text 2"/>
          <p:cNvSpPr/>
          <p:nvPr/>
        </p:nvSpPr>
        <p:spPr>
          <a:xfrm>
            <a:off x="128016" y="59436"/>
            <a:ext cx="8503920" cy="384048"/>
          </a:xfrm>
          <a:prstGeom prst="rect">
            <a:avLst/>
          </a:prstGeom>
          <a:noFill/>
          <a:ln/>
        </p:spPr>
        <p:txBody>
          <a:bodyPr wrap="square" rtlCol="0" anchor="ctr"/>
          <a:lstStyle/>
          <a:p>
            <a:pPr marL="0" indent="0">
              <a:buNone/>
            </a:pPr>
            <a:r>
              <a:rPr lang="en-US" sz="2000" b="1" dirty="0">
                <a:solidFill>
                  <a:srgbClr val="1C1C1C"/>
                </a:solidFill>
              </a:rPr>
              <a:t>Why Random Forest &amp; Model Results</a:t>
            </a:r>
            <a:endParaRPr lang="en-US" sz="2000" dirty="0"/>
          </a:p>
        </p:txBody>
      </p:sp>
      <p:sp>
        <p:nvSpPr>
          <p:cNvPr id="6" name="Shape 4"/>
          <p:cNvSpPr/>
          <p:nvPr/>
        </p:nvSpPr>
        <p:spPr>
          <a:xfrm>
            <a:off x="274320" y="1417320"/>
            <a:ext cx="4206240" cy="457200"/>
          </a:xfrm>
          <a:prstGeom prst="rect">
            <a:avLst/>
          </a:prstGeom>
          <a:solidFill>
            <a:srgbClr val="FFFFFF"/>
          </a:solidFill>
          <a:ln w="12700">
            <a:solidFill>
              <a:srgbClr val="A5D6A7"/>
            </a:solidFill>
            <a:prstDash val="solid"/>
          </a:ln>
        </p:spPr>
      </p:sp>
      <p:sp>
        <p:nvSpPr>
          <p:cNvPr id="7" name="Text 5"/>
          <p:cNvSpPr/>
          <p:nvPr/>
        </p:nvSpPr>
        <p:spPr>
          <a:xfrm>
            <a:off x="402336" y="1508760"/>
            <a:ext cx="3977640" cy="274320"/>
          </a:xfrm>
          <a:prstGeom prst="rect">
            <a:avLst/>
          </a:prstGeom>
          <a:noFill/>
          <a:ln/>
        </p:spPr>
        <p:txBody>
          <a:bodyPr wrap="square" rtlCol="0" anchor="ctr"/>
          <a:lstStyle/>
          <a:p>
            <a:pPr marL="0" indent="0">
              <a:buNone/>
            </a:pPr>
            <a:r>
              <a:rPr lang="en-US" sz="950" dirty="0">
                <a:solidFill>
                  <a:srgbClr val="1C1C1C"/>
                </a:solidFill>
              </a:rPr>
              <a:t>  Ensemble of 100+ decision trees  reduces overfitting</a:t>
            </a:r>
            <a:endParaRPr lang="en-US" sz="950" dirty="0"/>
          </a:p>
        </p:txBody>
      </p:sp>
      <p:sp>
        <p:nvSpPr>
          <p:cNvPr id="8" name="Shape 6"/>
          <p:cNvSpPr/>
          <p:nvPr/>
        </p:nvSpPr>
        <p:spPr>
          <a:xfrm>
            <a:off x="274320" y="1947672"/>
            <a:ext cx="4206240" cy="457200"/>
          </a:xfrm>
          <a:prstGeom prst="rect">
            <a:avLst/>
          </a:prstGeom>
          <a:solidFill>
            <a:srgbClr val="E8F5E9"/>
          </a:solidFill>
          <a:ln w="12700">
            <a:solidFill>
              <a:srgbClr val="A5D6A7"/>
            </a:solidFill>
            <a:prstDash val="solid"/>
          </a:ln>
        </p:spPr>
      </p:sp>
      <p:sp>
        <p:nvSpPr>
          <p:cNvPr id="9" name="Text 7"/>
          <p:cNvSpPr/>
          <p:nvPr/>
        </p:nvSpPr>
        <p:spPr>
          <a:xfrm>
            <a:off x="402336" y="2039112"/>
            <a:ext cx="3977640" cy="274320"/>
          </a:xfrm>
          <a:prstGeom prst="rect">
            <a:avLst/>
          </a:prstGeom>
          <a:noFill/>
          <a:ln/>
        </p:spPr>
        <p:txBody>
          <a:bodyPr wrap="square" rtlCol="0" anchor="ctr"/>
          <a:lstStyle/>
          <a:p>
            <a:pPr marL="0" indent="0">
              <a:buNone/>
            </a:pPr>
            <a:r>
              <a:rPr lang="en-US" sz="950" dirty="0">
                <a:solidFill>
                  <a:srgbClr val="1C1C1C"/>
                </a:solidFill>
              </a:rPr>
              <a:t>  Handles non-linear relationships between pollutants &amp; AQI</a:t>
            </a:r>
            <a:endParaRPr lang="en-US" sz="950" dirty="0"/>
          </a:p>
        </p:txBody>
      </p:sp>
      <p:sp>
        <p:nvSpPr>
          <p:cNvPr id="10" name="Shape 8"/>
          <p:cNvSpPr/>
          <p:nvPr/>
        </p:nvSpPr>
        <p:spPr>
          <a:xfrm>
            <a:off x="274320" y="2478024"/>
            <a:ext cx="4206240" cy="457200"/>
          </a:xfrm>
          <a:prstGeom prst="rect">
            <a:avLst/>
          </a:prstGeom>
          <a:solidFill>
            <a:srgbClr val="FFFFFF"/>
          </a:solidFill>
          <a:ln w="12700">
            <a:solidFill>
              <a:srgbClr val="A5D6A7"/>
            </a:solidFill>
            <a:prstDash val="solid"/>
          </a:ln>
        </p:spPr>
      </p:sp>
      <p:sp>
        <p:nvSpPr>
          <p:cNvPr id="11" name="Text 9"/>
          <p:cNvSpPr/>
          <p:nvPr/>
        </p:nvSpPr>
        <p:spPr>
          <a:xfrm>
            <a:off x="402336" y="2569464"/>
            <a:ext cx="3977640" cy="274320"/>
          </a:xfrm>
          <a:prstGeom prst="rect">
            <a:avLst/>
          </a:prstGeom>
          <a:noFill/>
          <a:ln/>
        </p:spPr>
        <p:txBody>
          <a:bodyPr wrap="square" rtlCol="0" anchor="ctr"/>
          <a:lstStyle/>
          <a:p>
            <a:pPr marL="0" indent="0">
              <a:buNone/>
            </a:pPr>
            <a:r>
              <a:rPr lang="en-US" sz="950" dirty="0">
                <a:solidFill>
                  <a:srgbClr val="1C1C1C"/>
                </a:solidFill>
              </a:rPr>
              <a:t>  Works well with mixed feature types (numeric + categorical)</a:t>
            </a:r>
            <a:endParaRPr lang="en-US" sz="950" dirty="0"/>
          </a:p>
        </p:txBody>
      </p:sp>
      <p:sp>
        <p:nvSpPr>
          <p:cNvPr id="12" name="Shape 10"/>
          <p:cNvSpPr/>
          <p:nvPr/>
        </p:nvSpPr>
        <p:spPr>
          <a:xfrm>
            <a:off x="274320" y="3008376"/>
            <a:ext cx="4206240" cy="457200"/>
          </a:xfrm>
          <a:prstGeom prst="rect">
            <a:avLst/>
          </a:prstGeom>
          <a:solidFill>
            <a:srgbClr val="E8F5E9"/>
          </a:solidFill>
          <a:ln w="12700">
            <a:solidFill>
              <a:srgbClr val="A5D6A7"/>
            </a:solidFill>
            <a:prstDash val="solid"/>
          </a:ln>
        </p:spPr>
      </p:sp>
      <p:sp>
        <p:nvSpPr>
          <p:cNvPr id="13" name="Text 11"/>
          <p:cNvSpPr/>
          <p:nvPr/>
        </p:nvSpPr>
        <p:spPr>
          <a:xfrm>
            <a:off x="402336" y="3099816"/>
            <a:ext cx="3977640" cy="274320"/>
          </a:xfrm>
          <a:prstGeom prst="rect">
            <a:avLst/>
          </a:prstGeom>
          <a:noFill/>
          <a:ln/>
        </p:spPr>
        <p:txBody>
          <a:bodyPr wrap="square" rtlCol="0" anchor="ctr"/>
          <a:lstStyle/>
          <a:p>
            <a:pPr marL="0" indent="0">
              <a:buNone/>
            </a:pPr>
            <a:r>
              <a:rPr lang="en-US" sz="950" dirty="0">
                <a:solidFill>
                  <a:srgbClr val="1C1C1C"/>
                </a:solidFill>
              </a:rPr>
              <a:t>  Fast training even on large datasets (842K rows)</a:t>
            </a:r>
            <a:endParaRPr lang="en-US" sz="950" dirty="0"/>
          </a:p>
        </p:txBody>
      </p:sp>
      <p:sp>
        <p:nvSpPr>
          <p:cNvPr id="14" name="Shape 12"/>
          <p:cNvSpPr/>
          <p:nvPr/>
        </p:nvSpPr>
        <p:spPr>
          <a:xfrm>
            <a:off x="274320" y="3538728"/>
            <a:ext cx="4206240" cy="457200"/>
          </a:xfrm>
          <a:prstGeom prst="rect">
            <a:avLst/>
          </a:prstGeom>
          <a:solidFill>
            <a:srgbClr val="FFFFFF"/>
          </a:solidFill>
          <a:ln w="12700">
            <a:solidFill>
              <a:srgbClr val="A5D6A7"/>
            </a:solidFill>
            <a:prstDash val="solid"/>
          </a:ln>
        </p:spPr>
      </p:sp>
      <p:sp>
        <p:nvSpPr>
          <p:cNvPr id="15" name="Text 13"/>
          <p:cNvSpPr/>
          <p:nvPr/>
        </p:nvSpPr>
        <p:spPr>
          <a:xfrm>
            <a:off x="402336" y="3630168"/>
            <a:ext cx="3977640" cy="274320"/>
          </a:xfrm>
          <a:prstGeom prst="rect">
            <a:avLst/>
          </a:prstGeom>
          <a:noFill/>
          <a:ln/>
        </p:spPr>
        <p:txBody>
          <a:bodyPr wrap="square" rtlCol="0" anchor="ctr"/>
          <a:lstStyle/>
          <a:p>
            <a:pPr marL="0" indent="0">
              <a:buNone/>
            </a:pPr>
            <a:r>
              <a:rPr lang="en-US" sz="950" dirty="0">
                <a:solidFill>
                  <a:srgbClr val="1C1C1C"/>
                </a:solidFill>
              </a:rPr>
              <a:t>  Provides feature importance tells which pollutant matters most</a:t>
            </a:r>
            <a:endParaRPr lang="en-US" sz="950" dirty="0"/>
          </a:p>
        </p:txBody>
      </p:sp>
      <p:sp>
        <p:nvSpPr>
          <p:cNvPr id="16" name="Shape 14"/>
          <p:cNvSpPr/>
          <p:nvPr/>
        </p:nvSpPr>
        <p:spPr>
          <a:xfrm>
            <a:off x="274320" y="4069080"/>
            <a:ext cx="4206240" cy="457200"/>
          </a:xfrm>
          <a:prstGeom prst="rect">
            <a:avLst/>
          </a:prstGeom>
          <a:solidFill>
            <a:srgbClr val="E8F5E9"/>
          </a:solidFill>
          <a:ln w="12700">
            <a:solidFill>
              <a:srgbClr val="A5D6A7"/>
            </a:solidFill>
            <a:prstDash val="solid"/>
          </a:ln>
        </p:spPr>
      </p:sp>
      <p:sp>
        <p:nvSpPr>
          <p:cNvPr id="17" name="Text 15"/>
          <p:cNvSpPr/>
          <p:nvPr/>
        </p:nvSpPr>
        <p:spPr>
          <a:xfrm>
            <a:off x="402336" y="4160520"/>
            <a:ext cx="3977640" cy="274320"/>
          </a:xfrm>
          <a:prstGeom prst="rect">
            <a:avLst/>
          </a:prstGeom>
          <a:noFill/>
          <a:ln/>
        </p:spPr>
        <p:txBody>
          <a:bodyPr wrap="square" rtlCol="0" anchor="ctr"/>
          <a:lstStyle/>
          <a:p>
            <a:pPr marL="0" indent="0">
              <a:buNone/>
            </a:pPr>
            <a:r>
              <a:rPr lang="en-US" sz="950" dirty="0">
                <a:solidFill>
                  <a:srgbClr val="1C1C1C"/>
                </a:solidFill>
              </a:rPr>
              <a:t>  Robust to outliers and missing values in weather data</a:t>
            </a:r>
            <a:endParaRPr lang="en-US" sz="950" dirty="0"/>
          </a:p>
        </p:txBody>
      </p:sp>
      <p:sp>
        <p:nvSpPr>
          <p:cNvPr id="18" name="Text 16"/>
          <p:cNvSpPr/>
          <p:nvPr/>
        </p:nvSpPr>
        <p:spPr>
          <a:xfrm>
            <a:off x="4663440" y="1051560"/>
            <a:ext cx="4206240" cy="292608"/>
          </a:xfrm>
          <a:prstGeom prst="rect">
            <a:avLst/>
          </a:prstGeom>
          <a:noFill/>
          <a:ln/>
        </p:spPr>
        <p:txBody>
          <a:bodyPr wrap="square" rtlCol="0" anchor="ctr"/>
          <a:lstStyle/>
          <a:p>
            <a:pPr marL="0" indent="0">
              <a:buNone/>
            </a:pPr>
            <a:r>
              <a:rPr lang="en-US" sz="1300" b="1" dirty="0">
                <a:solidFill>
                  <a:srgbClr val="2E7D32"/>
                </a:solidFill>
              </a:rPr>
              <a:t>Model Evaluation Metrics</a:t>
            </a:r>
            <a:endParaRPr lang="en-US" sz="1300" dirty="0"/>
          </a:p>
        </p:txBody>
      </p:sp>
      <p:sp>
        <p:nvSpPr>
          <p:cNvPr id="19" name="Shape 17"/>
          <p:cNvSpPr/>
          <p:nvPr/>
        </p:nvSpPr>
        <p:spPr>
          <a:xfrm>
            <a:off x="4663440" y="1417320"/>
            <a:ext cx="1965960" cy="960120"/>
          </a:xfrm>
          <a:prstGeom prst="rect">
            <a:avLst/>
          </a:prstGeom>
          <a:solidFill>
            <a:srgbClr val="FFFFFF"/>
          </a:solidFill>
          <a:ln w="12700">
            <a:solidFill>
              <a:srgbClr val="A5D6A7"/>
            </a:solidFill>
            <a:prstDash val="solid"/>
          </a:ln>
          <a:effectLst>
            <a:outerShdw blurRad="50800" dist="25400" dir="8100000" algn="bl" rotWithShape="0">
              <a:srgbClr val="000000">
                <a:alpha val="8000"/>
              </a:srgbClr>
            </a:outerShdw>
          </a:effectLst>
        </p:spPr>
      </p:sp>
      <p:sp>
        <p:nvSpPr>
          <p:cNvPr id="20" name="Shape 18"/>
          <p:cNvSpPr/>
          <p:nvPr/>
        </p:nvSpPr>
        <p:spPr>
          <a:xfrm>
            <a:off x="4663440" y="1417320"/>
            <a:ext cx="1965960" cy="292608"/>
          </a:xfrm>
          <a:prstGeom prst="rect">
            <a:avLst/>
          </a:prstGeom>
          <a:solidFill>
            <a:srgbClr val="2E7D32"/>
          </a:solidFill>
          <a:ln w="12700">
            <a:solidFill>
              <a:srgbClr val="2E7D32"/>
            </a:solidFill>
            <a:prstDash val="solid"/>
          </a:ln>
        </p:spPr>
      </p:sp>
      <p:sp>
        <p:nvSpPr>
          <p:cNvPr id="21" name="Text 19"/>
          <p:cNvSpPr/>
          <p:nvPr/>
        </p:nvSpPr>
        <p:spPr>
          <a:xfrm>
            <a:off x="4663440" y="1417320"/>
            <a:ext cx="1965960" cy="292608"/>
          </a:xfrm>
          <a:prstGeom prst="rect">
            <a:avLst/>
          </a:prstGeom>
          <a:noFill/>
          <a:ln/>
        </p:spPr>
        <p:txBody>
          <a:bodyPr wrap="square" rtlCol="0" anchor="ctr"/>
          <a:lstStyle/>
          <a:p>
            <a:pPr marL="0" indent="0" algn="ctr">
              <a:buNone/>
            </a:pPr>
            <a:r>
              <a:rPr lang="en-US" sz="1000" b="1" dirty="0">
                <a:solidFill>
                  <a:srgbClr val="FFFFFF"/>
                </a:solidFill>
              </a:rPr>
              <a:t>Accuracy</a:t>
            </a:r>
            <a:endParaRPr lang="en-US" sz="1000" dirty="0"/>
          </a:p>
        </p:txBody>
      </p:sp>
      <p:sp>
        <p:nvSpPr>
          <p:cNvPr id="22" name="Text 20"/>
          <p:cNvSpPr/>
          <p:nvPr/>
        </p:nvSpPr>
        <p:spPr>
          <a:xfrm>
            <a:off x="4663440" y="1764792"/>
            <a:ext cx="1965960" cy="475488"/>
          </a:xfrm>
          <a:prstGeom prst="rect">
            <a:avLst/>
          </a:prstGeom>
          <a:noFill/>
          <a:ln/>
        </p:spPr>
        <p:txBody>
          <a:bodyPr wrap="square" rtlCol="0" anchor="ctr"/>
          <a:lstStyle/>
          <a:p>
            <a:pPr marL="0" indent="0" algn="ctr">
              <a:buNone/>
            </a:pPr>
            <a:r>
              <a:rPr lang="en-US" sz="2200" b="1" dirty="0">
                <a:solidFill>
                  <a:srgbClr val="F9A825"/>
                </a:solidFill>
              </a:rPr>
              <a:t>71.69%</a:t>
            </a:r>
            <a:endParaRPr lang="en-US" sz="2200" dirty="0"/>
          </a:p>
        </p:txBody>
      </p:sp>
      <p:sp>
        <p:nvSpPr>
          <p:cNvPr id="23" name="Shape 21"/>
          <p:cNvSpPr/>
          <p:nvPr/>
        </p:nvSpPr>
        <p:spPr>
          <a:xfrm>
            <a:off x="6766560" y="1417320"/>
            <a:ext cx="1965960" cy="960120"/>
          </a:xfrm>
          <a:prstGeom prst="rect">
            <a:avLst/>
          </a:prstGeom>
          <a:solidFill>
            <a:srgbClr val="FFFFFF"/>
          </a:solidFill>
          <a:ln w="12700">
            <a:solidFill>
              <a:srgbClr val="A5D6A7"/>
            </a:solidFill>
            <a:prstDash val="solid"/>
          </a:ln>
          <a:effectLst>
            <a:outerShdw blurRad="50800" dist="25400" dir="8100000" algn="bl" rotWithShape="0">
              <a:srgbClr val="000000">
                <a:alpha val="8000"/>
              </a:srgbClr>
            </a:outerShdw>
          </a:effectLst>
        </p:spPr>
      </p:sp>
      <p:sp>
        <p:nvSpPr>
          <p:cNvPr id="24" name="Shape 22"/>
          <p:cNvSpPr/>
          <p:nvPr/>
        </p:nvSpPr>
        <p:spPr>
          <a:xfrm>
            <a:off x="6766560" y="1417320"/>
            <a:ext cx="1965960" cy="292608"/>
          </a:xfrm>
          <a:prstGeom prst="rect">
            <a:avLst/>
          </a:prstGeom>
          <a:solidFill>
            <a:srgbClr val="2E7D32"/>
          </a:solidFill>
          <a:ln w="12700">
            <a:solidFill>
              <a:srgbClr val="2E7D32"/>
            </a:solidFill>
            <a:prstDash val="solid"/>
          </a:ln>
        </p:spPr>
      </p:sp>
      <p:sp>
        <p:nvSpPr>
          <p:cNvPr id="25" name="Text 23"/>
          <p:cNvSpPr/>
          <p:nvPr/>
        </p:nvSpPr>
        <p:spPr>
          <a:xfrm>
            <a:off x="6766560" y="1417320"/>
            <a:ext cx="1965960" cy="292608"/>
          </a:xfrm>
          <a:prstGeom prst="rect">
            <a:avLst/>
          </a:prstGeom>
          <a:noFill/>
          <a:ln/>
        </p:spPr>
        <p:txBody>
          <a:bodyPr wrap="square" rtlCol="0" anchor="ctr"/>
          <a:lstStyle/>
          <a:p>
            <a:pPr marL="0" indent="0" algn="ctr">
              <a:buNone/>
            </a:pPr>
            <a:r>
              <a:rPr lang="en-US" sz="1000" b="1" dirty="0">
                <a:solidFill>
                  <a:srgbClr val="FFFFFF"/>
                </a:solidFill>
              </a:rPr>
              <a:t>Precision</a:t>
            </a:r>
            <a:endParaRPr lang="en-US" sz="1000" dirty="0"/>
          </a:p>
        </p:txBody>
      </p:sp>
      <p:sp>
        <p:nvSpPr>
          <p:cNvPr id="26" name="Text 24"/>
          <p:cNvSpPr/>
          <p:nvPr/>
        </p:nvSpPr>
        <p:spPr>
          <a:xfrm>
            <a:off x="6766560" y="1764792"/>
            <a:ext cx="1965960" cy="475488"/>
          </a:xfrm>
          <a:prstGeom prst="rect">
            <a:avLst/>
          </a:prstGeom>
          <a:noFill/>
          <a:ln/>
        </p:spPr>
        <p:txBody>
          <a:bodyPr wrap="square" rtlCol="0" anchor="ctr"/>
          <a:lstStyle/>
          <a:p>
            <a:pPr marL="0" indent="0" algn="ctr">
              <a:buNone/>
            </a:pPr>
            <a:r>
              <a:rPr lang="en-US" sz="2200" b="1" dirty="0">
                <a:solidFill>
                  <a:srgbClr val="F9A825"/>
                </a:solidFill>
              </a:rPr>
              <a:t>71.30%</a:t>
            </a:r>
            <a:endParaRPr lang="en-US" sz="2200" dirty="0"/>
          </a:p>
        </p:txBody>
      </p:sp>
      <p:sp>
        <p:nvSpPr>
          <p:cNvPr id="27" name="Shape 25"/>
          <p:cNvSpPr/>
          <p:nvPr/>
        </p:nvSpPr>
        <p:spPr>
          <a:xfrm>
            <a:off x="4663440" y="2514600"/>
            <a:ext cx="1965960" cy="960120"/>
          </a:xfrm>
          <a:prstGeom prst="rect">
            <a:avLst/>
          </a:prstGeom>
          <a:solidFill>
            <a:srgbClr val="FFFFFF"/>
          </a:solidFill>
          <a:ln w="12700">
            <a:solidFill>
              <a:srgbClr val="A5D6A7"/>
            </a:solidFill>
            <a:prstDash val="solid"/>
          </a:ln>
          <a:effectLst>
            <a:outerShdw blurRad="50800" dist="25400" dir="8100000" algn="bl" rotWithShape="0">
              <a:srgbClr val="000000">
                <a:alpha val="8000"/>
              </a:srgbClr>
            </a:outerShdw>
          </a:effectLst>
        </p:spPr>
      </p:sp>
      <p:sp>
        <p:nvSpPr>
          <p:cNvPr id="28" name="Shape 26"/>
          <p:cNvSpPr/>
          <p:nvPr/>
        </p:nvSpPr>
        <p:spPr>
          <a:xfrm>
            <a:off x="4663440" y="2514600"/>
            <a:ext cx="1965960" cy="292608"/>
          </a:xfrm>
          <a:prstGeom prst="rect">
            <a:avLst/>
          </a:prstGeom>
          <a:solidFill>
            <a:srgbClr val="2E7D32"/>
          </a:solidFill>
          <a:ln w="12700">
            <a:solidFill>
              <a:srgbClr val="2E7D32"/>
            </a:solidFill>
            <a:prstDash val="solid"/>
          </a:ln>
        </p:spPr>
      </p:sp>
      <p:sp>
        <p:nvSpPr>
          <p:cNvPr id="29" name="Text 27"/>
          <p:cNvSpPr/>
          <p:nvPr/>
        </p:nvSpPr>
        <p:spPr>
          <a:xfrm>
            <a:off x="4663440" y="2514600"/>
            <a:ext cx="1965960" cy="292608"/>
          </a:xfrm>
          <a:prstGeom prst="rect">
            <a:avLst/>
          </a:prstGeom>
          <a:noFill/>
          <a:ln/>
        </p:spPr>
        <p:txBody>
          <a:bodyPr wrap="square" rtlCol="0" anchor="ctr"/>
          <a:lstStyle/>
          <a:p>
            <a:pPr marL="0" indent="0" algn="ctr">
              <a:buNone/>
            </a:pPr>
            <a:r>
              <a:rPr lang="en-US" sz="1000" b="1" dirty="0">
                <a:solidFill>
                  <a:srgbClr val="FFFFFF"/>
                </a:solidFill>
              </a:rPr>
              <a:t>Recall</a:t>
            </a:r>
            <a:endParaRPr lang="en-US" sz="1000" dirty="0"/>
          </a:p>
        </p:txBody>
      </p:sp>
      <p:sp>
        <p:nvSpPr>
          <p:cNvPr id="30" name="Text 28"/>
          <p:cNvSpPr/>
          <p:nvPr/>
        </p:nvSpPr>
        <p:spPr>
          <a:xfrm>
            <a:off x="4663440" y="2862072"/>
            <a:ext cx="1965960" cy="475488"/>
          </a:xfrm>
          <a:prstGeom prst="rect">
            <a:avLst/>
          </a:prstGeom>
          <a:noFill/>
          <a:ln/>
        </p:spPr>
        <p:txBody>
          <a:bodyPr wrap="square" rtlCol="0" anchor="ctr"/>
          <a:lstStyle/>
          <a:p>
            <a:pPr marL="0" indent="0" algn="ctr">
              <a:buNone/>
            </a:pPr>
            <a:r>
              <a:rPr lang="en-US" sz="2200" b="1" dirty="0">
                <a:solidFill>
                  <a:srgbClr val="F9A825"/>
                </a:solidFill>
              </a:rPr>
              <a:t>71.69%</a:t>
            </a:r>
            <a:endParaRPr lang="en-US" sz="2200" dirty="0"/>
          </a:p>
        </p:txBody>
      </p:sp>
      <p:sp>
        <p:nvSpPr>
          <p:cNvPr id="31" name="Shape 29"/>
          <p:cNvSpPr/>
          <p:nvPr/>
        </p:nvSpPr>
        <p:spPr>
          <a:xfrm>
            <a:off x="6766560" y="2514600"/>
            <a:ext cx="1965960" cy="960120"/>
          </a:xfrm>
          <a:prstGeom prst="rect">
            <a:avLst/>
          </a:prstGeom>
          <a:solidFill>
            <a:srgbClr val="FFFFFF"/>
          </a:solidFill>
          <a:ln w="12700">
            <a:solidFill>
              <a:srgbClr val="A5D6A7"/>
            </a:solidFill>
            <a:prstDash val="solid"/>
          </a:ln>
          <a:effectLst>
            <a:outerShdw blurRad="50800" dist="25400" dir="8100000" algn="bl" rotWithShape="0">
              <a:srgbClr val="000000">
                <a:alpha val="8000"/>
              </a:srgbClr>
            </a:outerShdw>
          </a:effectLst>
        </p:spPr>
      </p:sp>
      <p:sp>
        <p:nvSpPr>
          <p:cNvPr id="32" name="Shape 30"/>
          <p:cNvSpPr/>
          <p:nvPr/>
        </p:nvSpPr>
        <p:spPr>
          <a:xfrm>
            <a:off x="6766560" y="2514600"/>
            <a:ext cx="1965960" cy="292608"/>
          </a:xfrm>
          <a:prstGeom prst="rect">
            <a:avLst/>
          </a:prstGeom>
          <a:solidFill>
            <a:srgbClr val="2E7D32"/>
          </a:solidFill>
          <a:ln w="12700">
            <a:solidFill>
              <a:srgbClr val="2E7D32"/>
            </a:solidFill>
            <a:prstDash val="solid"/>
          </a:ln>
        </p:spPr>
      </p:sp>
      <p:sp>
        <p:nvSpPr>
          <p:cNvPr id="33" name="Text 31"/>
          <p:cNvSpPr/>
          <p:nvPr/>
        </p:nvSpPr>
        <p:spPr>
          <a:xfrm>
            <a:off x="6766560" y="2514600"/>
            <a:ext cx="1965960" cy="292608"/>
          </a:xfrm>
          <a:prstGeom prst="rect">
            <a:avLst/>
          </a:prstGeom>
          <a:noFill/>
          <a:ln/>
        </p:spPr>
        <p:txBody>
          <a:bodyPr wrap="square" rtlCol="0" anchor="ctr"/>
          <a:lstStyle/>
          <a:p>
            <a:pPr marL="0" indent="0" algn="ctr">
              <a:buNone/>
            </a:pPr>
            <a:r>
              <a:rPr lang="en-US" sz="1000" b="1" dirty="0">
                <a:solidFill>
                  <a:srgbClr val="FFFFFF"/>
                </a:solidFill>
              </a:rPr>
              <a:t>F1 Score</a:t>
            </a:r>
            <a:endParaRPr lang="en-US" sz="1000" dirty="0"/>
          </a:p>
        </p:txBody>
      </p:sp>
      <p:sp>
        <p:nvSpPr>
          <p:cNvPr id="34" name="Text 32"/>
          <p:cNvSpPr/>
          <p:nvPr/>
        </p:nvSpPr>
        <p:spPr>
          <a:xfrm>
            <a:off x="6766560" y="2862072"/>
            <a:ext cx="1965960" cy="475488"/>
          </a:xfrm>
          <a:prstGeom prst="rect">
            <a:avLst/>
          </a:prstGeom>
          <a:noFill/>
          <a:ln/>
        </p:spPr>
        <p:txBody>
          <a:bodyPr wrap="square" rtlCol="0" anchor="ctr"/>
          <a:lstStyle/>
          <a:p>
            <a:pPr marL="0" indent="0" algn="ctr">
              <a:buNone/>
            </a:pPr>
            <a:r>
              <a:rPr lang="en-US" sz="2200" b="1" dirty="0">
                <a:solidFill>
                  <a:srgbClr val="F9A825"/>
                </a:solidFill>
              </a:rPr>
              <a:t>71.28%</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5E20"/>
          </a:solidFill>
          <a:ln w="12700">
            <a:solidFill>
              <a:srgbClr val="1B5E20"/>
            </a:solidFill>
            <a:prstDash val="solid"/>
          </a:ln>
        </p:spPr>
      </p:sp>
      <p:sp>
        <p:nvSpPr>
          <p:cNvPr id="3" name="Text 1"/>
          <p:cNvSpPr/>
          <p:nvPr/>
        </p:nvSpPr>
        <p:spPr>
          <a:xfrm>
            <a:off x="320040" y="0"/>
            <a:ext cx="8503920" cy="502920"/>
          </a:xfrm>
          <a:prstGeom prst="rect">
            <a:avLst/>
          </a:prstGeom>
          <a:noFill/>
          <a:ln/>
        </p:spPr>
        <p:txBody>
          <a:bodyPr wrap="square" rtlCol="0" anchor="ctr"/>
          <a:lstStyle/>
          <a:p>
            <a:pPr marL="0" indent="0">
              <a:buNone/>
            </a:pPr>
            <a:endParaRPr lang="en-US" sz="1000" dirty="0"/>
          </a:p>
        </p:txBody>
      </p:sp>
      <p:sp>
        <p:nvSpPr>
          <p:cNvPr id="4" name="Text 2"/>
          <p:cNvSpPr/>
          <p:nvPr/>
        </p:nvSpPr>
        <p:spPr>
          <a:xfrm>
            <a:off x="220863" y="59436"/>
            <a:ext cx="8423734" cy="384048"/>
          </a:xfrm>
          <a:prstGeom prst="rect">
            <a:avLst/>
          </a:prstGeom>
          <a:noFill/>
          <a:ln/>
        </p:spPr>
        <p:txBody>
          <a:bodyPr wrap="square" rtlCol="0" anchor="ctr"/>
          <a:lstStyle/>
          <a:p>
            <a:pPr marL="0" indent="0">
              <a:buNone/>
            </a:pPr>
            <a:r>
              <a:rPr lang="en-US" sz="2000" b="1" dirty="0">
                <a:solidFill>
                  <a:srgbClr val="1C1C1C"/>
                </a:solidFill>
              </a:rPr>
              <a:t>Health Risk Dashboard &amp; Future Work</a:t>
            </a:r>
            <a:endParaRPr lang="en-US" sz="2000" dirty="0"/>
          </a:p>
        </p:txBody>
      </p:sp>
      <p:sp>
        <p:nvSpPr>
          <p:cNvPr id="5" name="Text 3"/>
          <p:cNvSpPr/>
          <p:nvPr/>
        </p:nvSpPr>
        <p:spPr>
          <a:xfrm>
            <a:off x="274320" y="1051560"/>
            <a:ext cx="4846320" cy="256032"/>
          </a:xfrm>
          <a:prstGeom prst="rect">
            <a:avLst/>
          </a:prstGeom>
          <a:noFill/>
          <a:ln/>
        </p:spPr>
        <p:txBody>
          <a:bodyPr wrap="square" rtlCol="0" anchor="ctr"/>
          <a:lstStyle/>
          <a:p>
            <a:pPr marL="0" indent="0">
              <a:buNone/>
            </a:pPr>
            <a:r>
              <a:rPr lang="en-US" sz="1100" b="1" dirty="0">
                <a:solidFill>
                  <a:srgbClr val="2E7D32"/>
                </a:solidFill>
              </a:rPr>
              <a:t>Current: Health Risk Prediction (from AQI + Weather)</a:t>
            </a:r>
            <a:endParaRPr lang="en-US" sz="1100" dirty="0"/>
          </a:p>
        </p:txBody>
      </p:sp>
      <p:pic>
        <p:nvPicPr>
          <p:cNvPr id="6" name="Image 0" descr="/home/claude/fig_health_risk.png"/>
          <p:cNvPicPr>
            <a:picLocks noChangeAspect="1"/>
          </p:cNvPicPr>
          <p:nvPr/>
        </p:nvPicPr>
        <p:blipFill>
          <a:blip r:embed="rId3"/>
          <a:stretch>
            <a:fillRect/>
          </a:stretch>
        </p:blipFill>
        <p:spPr>
          <a:xfrm>
            <a:off x="274320" y="1325880"/>
            <a:ext cx="4846320" cy="1920240"/>
          </a:xfrm>
          <a:prstGeom prst="rect">
            <a:avLst/>
          </a:prstGeom>
        </p:spPr>
      </p:pic>
      <p:sp>
        <p:nvSpPr>
          <p:cNvPr id="7" name="Text 4"/>
          <p:cNvSpPr/>
          <p:nvPr/>
        </p:nvSpPr>
        <p:spPr>
          <a:xfrm>
            <a:off x="5257800" y="1051560"/>
            <a:ext cx="3566160" cy="256032"/>
          </a:xfrm>
          <a:prstGeom prst="rect">
            <a:avLst/>
          </a:prstGeom>
          <a:noFill/>
          <a:ln/>
        </p:spPr>
        <p:txBody>
          <a:bodyPr wrap="square" rtlCol="0" anchor="ctr"/>
          <a:lstStyle/>
          <a:p>
            <a:pPr marL="0" indent="0">
              <a:buNone/>
            </a:pPr>
            <a:r>
              <a:rPr lang="en-US" sz="1100" b="1" dirty="0">
                <a:solidFill>
                  <a:srgbClr val="2E7D32"/>
                </a:solidFill>
              </a:rPr>
              <a:t>How It Helps:</a:t>
            </a:r>
            <a:endParaRPr lang="en-US" sz="1100" dirty="0"/>
          </a:p>
        </p:txBody>
      </p:sp>
      <p:sp>
        <p:nvSpPr>
          <p:cNvPr id="8" name="Shape 5"/>
          <p:cNvSpPr/>
          <p:nvPr/>
        </p:nvSpPr>
        <p:spPr>
          <a:xfrm>
            <a:off x="5257800" y="1371600"/>
            <a:ext cx="3566160" cy="384048"/>
          </a:xfrm>
          <a:prstGeom prst="rect">
            <a:avLst/>
          </a:prstGeom>
          <a:solidFill>
            <a:srgbClr val="E8F5E9"/>
          </a:solidFill>
          <a:ln w="12700">
            <a:solidFill>
              <a:srgbClr val="A5D6A7"/>
            </a:solidFill>
            <a:prstDash val="solid"/>
          </a:ln>
        </p:spPr>
      </p:sp>
      <p:sp>
        <p:nvSpPr>
          <p:cNvPr id="9" name="Text 6"/>
          <p:cNvSpPr/>
          <p:nvPr/>
        </p:nvSpPr>
        <p:spPr>
          <a:xfrm>
            <a:off x="5376672" y="1426464"/>
            <a:ext cx="3383280" cy="274320"/>
          </a:xfrm>
          <a:prstGeom prst="rect">
            <a:avLst/>
          </a:prstGeom>
          <a:noFill/>
          <a:ln/>
        </p:spPr>
        <p:txBody>
          <a:bodyPr wrap="square" rtlCol="0" anchor="ctr"/>
          <a:lstStyle/>
          <a:p>
            <a:pPr marL="0" indent="0">
              <a:buNone/>
            </a:pPr>
            <a:r>
              <a:rPr lang="en-US" sz="950" dirty="0">
                <a:solidFill>
                  <a:srgbClr val="1C1C1C"/>
                </a:solidFill>
              </a:rPr>
              <a:t>  Predicts: Good / Moderate / Unhealthy / Hazardous</a:t>
            </a:r>
            <a:endParaRPr lang="en-US" sz="950" dirty="0"/>
          </a:p>
        </p:txBody>
      </p:sp>
      <p:sp>
        <p:nvSpPr>
          <p:cNvPr id="10" name="Shape 7"/>
          <p:cNvSpPr/>
          <p:nvPr/>
        </p:nvSpPr>
        <p:spPr>
          <a:xfrm>
            <a:off x="5257800" y="1828800"/>
            <a:ext cx="3566160" cy="384048"/>
          </a:xfrm>
          <a:prstGeom prst="rect">
            <a:avLst/>
          </a:prstGeom>
          <a:solidFill>
            <a:srgbClr val="E8F5E9"/>
          </a:solidFill>
          <a:ln w="12700">
            <a:solidFill>
              <a:srgbClr val="A5D6A7"/>
            </a:solidFill>
            <a:prstDash val="solid"/>
          </a:ln>
        </p:spPr>
      </p:sp>
      <p:sp>
        <p:nvSpPr>
          <p:cNvPr id="11" name="Text 8"/>
          <p:cNvSpPr/>
          <p:nvPr/>
        </p:nvSpPr>
        <p:spPr>
          <a:xfrm>
            <a:off x="5376672" y="1883664"/>
            <a:ext cx="3383280" cy="274320"/>
          </a:xfrm>
          <a:prstGeom prst="rect">
            <a:avLst/>
          </a:prstGeom>
          <a:noFill/>
          <a:ln/>
        </p:spPr>
        <p:txBody>
          <a:bodyPr wrap="square" rtlCol="0" anchor="ctr"/>
          <a:lstStyle/>
          <a:p>
            <a:pPr marL="0" indent="0">
              <a:buNone/>
            </a:pPr>
            <a:r>
              <a:rPr lang="en-US" sz="950" dirty="0">
                <a:solidFill>
                  <a:srgbClr val="1C1C1C"/>
                </a:solidFill>
              </a:rPr>
              <a:t>  Shows precautions: 'Avoid outdoor exposure'</a:t>
            </a:r>
            <a:endParaRPr lang="en-US" sz="950" dirty="0"/>
          </a:p>
        </p:txBody>
      </p:sp>
      <p:sp>
        <p:nvSpPr>
          <p:cNvPr id="12" name="Shape 9"/>
          <p:cNvSpPr/>
          <p:nvPr/>
        </p:nvSpPr>
        <p:spPr>
          <a:xfrm>
            <a:off x="5257800" y="2286000"/>
            <a:ext cx="3566160" cy="384048"/>
          </a:xfrm>
          <a:prstGeom prst="rect">
            <a:avLst/>
          </a:prstGeom>
          <a:solidFill>
            <a:srgbClr val="E8F5E9"/>
          </a:solidFill>
          <a:ln w="12700">
            <a:solidFill>
              <a:srgbClr val="A5D6A7"/>
            </a:solidFill>
            <a:prstDash val="solid"/>
          </a:ln>
        </p:spPr>
      </p:sp>
      <p:sp>
        <p:nvSpPr>
          <p:cNvPr id="13" name="Text 10"/>
          <p:cNvSpPr/>
          <p:nvPr/>
        </p:nvSpPr>
        <p:spPr>
          <a:xfrm>
            <a:off x="5376672" y="2340864"/>
            <a:ext cx="3383280" cy="274320"/>
          </a:xfrm>
          <a:prstGeom prst="rect">
            <a:avLst/>
          </a:prstGeom>
          <a:noFill/>
          <a:ln/>
        </p:spPr>
        <p:txBody>
          <a:bodyPr wrap="square" rtlCol="0" anchor="ctr"/>
          <a:lstStyle/>
          <a:p>
            <a:pPr marL="0" indent="0">
              <a:buNone/>
            </a:pPr>
            <a:r>
              <a:rPr lang="en-US" sz="950" dirty="0">
                <a:solidFill>
                  <a:srgbClr val="1C1C1C"/>
                </a:solidFill>
              </a:rPr>
              <a:t>  Helps vulnerable groups : elderly, children, patients</a:t>
            </a:r>
            <a:endParaRPr lang="en-US" sz="950" dirty="0"/>
          </a:p>
        </p:txBody>
      </p:sp>
      <p:sp>
        <p:nvSpPr>
          <p:cNvPr id="14" name="Shape 11"/>
          <p:cNvSpPr/>
          <p:nvPr/>
        </p:nvSpPr>
        <p:spPr>
          <a:xfrm>
            <a:off x="5257800" y="2743200"/>
            <a:ext cx="3566160" cy="384048"/>
          </a:xfrm>
          <a:prstGeom prst="rect">
            <a:avLst/>
          </a:prstGeom>
          <a:solidFill>
            <a:srgbClr val="E8F5E9"/>
          </a:solidFill>
          <a:ln w="12700">
            <a:solidFill>
              <a:srgbClr val="A5D6A7"/>
            </a:solidFill>
            <a:prstDash val="solid"/>
          </a:ln>
        </p:spPr>
      </p:sp>
      <p:sp>
        <p:nvSpPr>
          <p:cNvPr id="15" name="Text 12"/>
          <p:cNvSpPr/>
          <p:nvPr/>
        </p:nvSpPr>
        <p:spPr>
          <a:xfrm>
            <a:off x="5376672" y="2798064"/>
            <a:ext cx="3383280" cy="274320"/>
          </a:xfrm>
          <a:prstGeom prst="rect">
            <a:avLst/>
          </a:prstGeom>
          <a:noFill/>
          <a:ln/>
        </p:spPr>
        <p:txBody>
          <a:bodyPr wrap="square" rtlCol="0" anchor="ctr"/>
          <a:lstStyle/>
          <a:p>
            <a:pPr marL="0" indent="0">
              <a:buNone/>
            </a:pPr>
            <a:r>
              <a:rPr lang="en-US" sz="950" dirty="0">
                <a:solidFill>
                  <a:srgbClr val="1C1C1C"/>
                </a:solidFill>
              </a:rPr>
              <a:t>  City-wise risk score displayed on dashboard</a:t>
            </a:r>
            <a:endParaRPr lang="en-US" sz="950" dirty="0"/>
          </a:p>
        </p:txBody>
      </p:sp>
      <p:sp>
        <p:nvSpPr>
          <p:cNvPr id="16" name="Text 13"/>
          <p:cNvSpPr/>
          <p:nvPr/>
        </p:nvSpPr>
        <p:spPr>
          <a:xfrm>
            <a:off x="274320" y="3337560"/>
            <a:ext cx="8595360" cy="274320"/>
          </a:xfrm>
          <a:prstGeom prst="rect">
            <a:avLst/>
          </a:prstGeom>
          <a:noFill/>
          <a:ln/>
        </p:spPr>
        <p:txBody>
          <a:bodyPr wrap="square" rtlCol="0" anchor="ctr"/>
          <a:lstStyle/>
          <a:p>
            <a:pPr marL="0" indent="0">
              <a:buNone/>
            </a:pPr>
            <a:r>
              <a:rPr lang="en-US" sz="1300" b="1" dirty="0">
                <a:solidFill>
                  <a:srgbClr val="2E7D32"/>
                </a:solidFill>
              </a:rPr>
              <a:t>Future Scope</a:t>
            </a:r>
            <a:endParaRPr lang="en-US" sz="1300" dirty="0"/>
          </a:p>
        </p:txBody>
      </p:sp>
      <p:sp>
        <p:nvSpPr>
          <p:cNvPr id="17" name="Shape 14"/>
          <p:cNvSpPr/>
          <p:nvPr/>
        </p:nvSpPr>
        <p:spPr>
          <a:xfrm>
            <a:off x="274320" y="3657600"/>
            <a:ext cx="2011680" cy="1280160"/>
          </a:xfrm>
          <a:prstGeom prst="rect">
            <a:avLst/>
          </a:prstGeom>
          <a:solidFill>
            <a:srgbClr val="FFFFFF"/>
          </a:solidFill>
          <a:ln w="12700">
            <a:solidFill>
              <a:srgbClr val="A5D6A7"/>
            </a:solidFill>
            <a:prstDash val="solid"/>
          </a:ln>
          <a:effectLst>
            <a:outerShdw blurRad="50800" dist="25400" dir="8100000" algn="bl" rotWithShape="0">
              <a:srgbClr val="000000">
                <a:alpha val="7000"/>
              </a:srgbClr>
            </a:outerShdw>
          </a:effectLst>
        </p:spPr>
      </p:sp>
      <p:sp>
        <p:nvSpPr>
          <p:cNvPr id="18" name="Shape 15"/>
          <p:cNvSpPr/>
          <p:nvPr/>
        </p:nvSpPr>
        <p:spPr>
          <a:xfrm>
            <a:off x="274320" y="3657600"/>
            <a:ext cx="2011680" cy="292608"/>
          </a:xfrm>
          <a:prstGeom prst="rect">
            <a:avLst/>
          </a:prstGeom>
          <a:solidFill>
            <a:srgbClr val="2E7D32"/>
          </a:solidFill>
          <a:ln w="12700">
            <a:solidFill>
              <a:srgbClr val="2E7D32"/>
            </a:solidFill>
            <a:prstDash val="solid"/>
          </a:ln>
        </p:spPr>
      </p:sp>
      <p:sp>
        <p:nvSpPr>
          <p:cNvPr id="19" name="Text 16"/>
          <p:cNvSpPr/>
          <p:nvPr/>
        </p:nvSpPr>
        <p:spPr>
          <a:xfrm>
            <a:off x="347472" y="3685032"/>
            <a:ext cx="1883664" cy="237744"/>
          </a:xfrm>
          <a:prstGeom prst="rect">
            <a:avLst/>
          </a:prstGeom>
          <a:noFill/>
          <a:ln/>
        </p:spPr>
        <p:txBody>
          <a:bodyPr wrap="square" rtlCol="0" anchor="ctr"/>
          <a:lstStyle/>
          <a:p>
            <a:pPr marL="0" indent="0">
              <a:buNone/>
            </a:pPr>
            <a:r>
              <a:rPr lang="en-US" sz="900" b="1" dirty="0">
                <a:solidFill>
                  <a:srgbClr val="FFFFFF"/>
                </a:solidFill>
              </a:rPr>
              <a:t>  Real-Time Data Integration</a:t>
            </a:r>
            <a:endParaRPr lang="en-US" sz="900" dirty="0"/>
          </a:p>
        </p:txBody>
      </p:sp>
      <p:sp>
        <p:nvSpPr>
          <p:cNvPr id="20" name="Text 17"/>
          <p:cNvSpPr/>
          <p:nvPr/>
        </p:nvSpPr>
        <p:spPr>
          <a:xfrm>
            <a:off x="347472" y="3995928"/>
            <a:ext cx="1883664" cy="868680"/>
          </a:xfrm>
          <a:prstGeom prst="rect">
            <a:avLst/>
          </a:prstGeom>
          <a:noFill/>
          <a:ln/>
        </p:spPr>
        <p:txBody>
          <a:bodyPr wrap="square" rtlCol="0" anchor="ctr"/>
          <a:lstStyle/>
          <a:p>
            <a:pPr marL="0" indent="0">
              <a:lnSpc>
                <a:spcPct val="135000"/>
              </a:lnSpc>
              <a:buNone/>
            </a:pPr>
            <a:r>
              <a:rPr lang="en-US" sz="850" dirty="0">
                <a:solidFill>
                  <a:srgbClr val="1C1C1C"/>
                </a:solidFill>
              </a:rPr>
              <a:t>Live CPCB API feeds → dashboard updates every hour</a:t>
            </a:r>
            <a:endParaRPr lang="en-US" sz="850" dirty="0"/>
          </a:p>
        </p:txBody>
      </p:sp>
      <p:sp>
        <p:nvSpPr>
          <p:cNvPr id="21" name="Shape 18"/>
          <p:cNvSpPr/>
          <p:nvPr/>
        </p:nvSpPr>
        <p:spPr>
          <a:xfrm>
            <a:off x="2450592" y="3657600"/>
            <a:ext cx="2011680" cy="1280160"/>
          </a:xfrm>
          <a:prstGeom prst="rect">
            <a:avLst/>
          </a:prstGeom>
          <a:solidFill>
            <a:srgbClr val="FFFFFF"/>
          </a:solidFill>
          <a:ln w="12700">
            <a:solidFill>
              <a:srgbClr val="A5D6A7"/>
            </a:solidFill>
            <a:prstDash val="solid"/>
          </a:ln>
          <a:effectLst>
            <a:outerShdw blurRad="50800" dist="25400" dir="8100000" algn="bl" rotWithShape="0">
              <a:srgbClr val="000000">
                <a:alpha val="7000"/>
              </a:srgbClr>
            </a:outerShdw>
          </a:effectLst>
        </p:spPr>
      </p:sp>
      <p:sp>
        <p:nvSpPr>
          <p:cNvPr id="22" name="Shape 19"/>
          <p:cNvSpPr/>
          <p:nvPr/>
        </p:nvSpPr>
        <p:spPr>
          <a:xfrm>
            <a:off x="2450592" y="3657600"/>
            <a:ext cx="2011680" cy="292608"/>
          </a:xfrm>
          <a:prstGeom prst="rect">
            <a:avLst/>
          </a:prstGeom>
          <a:solidFill>
            <a:srgbClr val="2E7D32"/>
          </a:solidFill>
          <a:ln w="12700">
            <a:solidFill>
              <a:srgbClr val="2E7D32"/>
            </a:solidFill>
            <a:prstDash val="solid"/>
          </a:ln>
        </p:spPr>
      </p:sp>
      <p:sp>
        <p:nvSpPr>
          <p:cNvPr id="23" name="Text 20"/>
          <p:cNvSpPr/>
          <p:nvPr/>
        </p:nvSpPr>
        <p:spPr>
          <a:xfrm>
            <a:off x="2523744" y="3685032"/>
            <a:ext cx="1883664" cy="237744"/>
          </a:xfrm>
          <a:prstGeom prst="rect">
            <a:avLst/>
          </a:prstGeom>
          <a:noFill/>
          <a:ln/>
        </p:spPr>
        <p:txBody>
          <a:bodyPr wrap="square" rtlCol="0" anchor="ctr"/>
          <a:lstStyle/>
          <a:p>
            <a:pPr marL="0" indent="0">
              <a:buNone/>
            </a:pPr>
            <a:r>
              <a:rPr lang="en-US" sz="900" b="1" dirty="0">
                <a:solidFill>
                  <a:srgbClr val="FFFFFF"/>
                </a:solidFill>
              </a:rPr>
              <a:t>  7-Day AQI Forecasting (LSTM)</a:t>
            </a:r>
            <a:endParaRPr lang="en-US" sz="900" dirty="0"/>
          </a:p>
        </p:txBody>
      </p:sp>
      <p:sp>
        <p:nvSpPr>
          <p:cNvPr id="24" name="Text 21"/>
          <p:cNvSpPr/>
          <p:nvPr/>
        </p:nvSpPr>
        <p:spPr>
          <a:xfrm>
            <a:off x="2523744" y="3995928"/>
            <a:ext cx="1883664" cy="868680"/>
          </a:xfrm>
          <a:prstGeom prst="rect">
            <a:avLst/>
          </a:prstGeom>
          <a:noFill/>
          <a:ln/>
        </p:spPr>
        <p:txBody>
          <a:bodyPr wrap="square" rtlCol="0" anchor="ctr"/>
          <a:lstStyle/>
          <a:p>
            <a:pPr marL="0" indent="0">
              <a:lnSpc>
                <a:spcPct val="135000"/>
              </a:lnSpc>
              <a:buNone/>
            </a:pPr>
            <a:r>
              <a:rPr lang="en-US" sz="850" dirty="0">
                <a:solidFill>
                  <a:srgbClr val="1C1C1C"/>
                </a:solidFill>
              </a:rPr>
              <a:t>Deep learning time-series model for next-week prediction</a:t>
            </a:r>
            <a:endParaRPr lang="en-US" sz="850" dirty="0"/>
          </a:p>
        </p:txBody>
      </p:sp>
      <p:sp>
        <p:nvSpPr>
          <p:cNvPr id="25" name="Shape 22"/>
          <p:cNvSpPr/>
          <p:nvPr/>
        </p:nvSpPr>
        <p:spPr>
          <a:xfrm>
            <a:off x="4626864" y="3657600"/>
            <a:ext cx="2011680" cy="1280160"/>
          </a:xfrm>
          <a:prstGeom prst="rect">
            <a:avLst/>
          </a:prstGeom>
          <a:solidFill>
            <a:srgbClr val="FFFFFF"/>
          </a:solidFill>
          <a:ln w="12700">
            <a:solidFill>
              <a:srgbClr val="A5D6A7"/>
            </a:solidFill>
            <a:prstDash val="solid"/>
          </a:ln>
          <a:effectLst>
            <a:outerShdw blurRad="50800" dist="25400" dir="8100000" algn="bl" rotWithShape="0">
              <a:srgbClr val="000000">
                <a:alpha val="7000"/>
              </a:srgbClr>
            </a:outerShdw>
          </a:effectLst>
        </p:spPr>
      </p:sp>
      <p:sp>
        <p:nvSpPr>
          <p:cNvPr id="26" name="Shape 23"/>
          <p:cNvSpPr/>
          <p:nvPr/>
        </p:nvSpPr>
        <p:spPr>
          <a:xfrm>
            <a:off x="4626864" y="3657600"/>
            <a:ext cx="2011680" cy="292608"/>
          </a:xfrm>
          <a:prstGeom prst="rect">
            <a:avLst/>
          </a:prstGeom>
          <a:solidFill>
            <a:srgbClr val="2E7D32"/>
          </a:solidFill>
          <a:ln w="12700">
            <a:solidFill>
              <a:srgbClr val="2E7D32"/>
            </a:solidFill>
            <a:prstDash val="solid"/>
          </a:ln>
        </p:spPr>
      </p:sp>
      <p:sp>
        <p:nvSpPr>
          <p:cNvPr id="27" name="Text 24"/>
          <p:cNvSpPr/>
          <p:nvPr/>
        </p:nvSpPr>
        <p:spPr>
          <a:xfrm>
            <a:off x="4700016" y="3685032"/>
            <a:ext cx="1883664" cy="237744"/>
          </a:xfrm>
          <a:prstGeom prst="rect">
            <a:avLst/>
          </a:prstGeom>
          <a:noFill/>
          <a:ln/>
        </p:spPr>
        <p:txBody>
          <a:bodyPr wrap="square" rtlCol="0" anchor="ctr"/>
          <a:lstStyle/>
          <a:p>
            <a:pPr marL="0" indent="0">
              <a:buNone/>
            </a:pPr>
            <a:r>
              <a:rPr lang="en-US" sz="900" b="1" dirty="0">
                <a:solidFill>
                  <a:srgbClr val="FFFFFF"/>
                </a:solidFill>
              </a:rPr>
              <a:t> XGBoost + Gradient Boosting</a:t>
            </a:r>
            <a:endParaRPr lang="en-US" sz="900" dirty="0"/>
          </a:p>
        </p:txBody>
      </p:sp>
      <p:sp>
        <p:nvSpPr>
          <p:cNvPr id="28" name="Text 25"/>
          <p:cNvSpPr/>
          <p:nvPr/>
        </p:nvSpPr>
        <p:spPr>
          <a:xfrm>
            <a:off x="4700016" y="3995928"/>
            <a:ext cx="1883664" cy="868680"/>
          </a:xfrm>
          <a:prstGeom prst="rect">
            <a:avLst/>
          </a:prstGeom>
          <a:noFill/>
          <a:ln/>
        </p:spPr>
        <p:txBody>
          <a:bodyPr wrap="square" rtlCol="0" anchor="ctr"/>
          <a:lstStyle/>
          <a:p>
            <a:pPr marL="0" indent="0">
              <a:lnSpc>
                <a:spcPct val="135000"/>
              </a:lnSpc>
              <a:buNone/>
            </a:pPr>
            <a:r>
              <a:rPr lang="en-US" sz="850" dirty="0">
                <a:solidFill>
                  <a:srgbClr val="1C1C1C"/>
                </a:solidFill>
              </a:rPr>
              <a:t>Better accuracy, compare with Random Forest benchmark</a:t>
            </a:r>
            <a:endParaRPr lang="en-US" sz="850" dirty="0"/>
          </a:p>
        </p:txBody>
      </p:sp>
      <p:sp>
        <p:nvSpPr>
          <p:cNvPr id="29" name="Shape 26"/>
          <p:cNvSpPr/>
          <p:nvPr/>
        </p:nvSpPr>
        <p:spPr>
          <a:xfrm>
            <a:off x="6803136" y="3657600"/>
            <a:ext cx="2011680" cy="1280160"/>
          </a:xfrm>
          <a:prstGeom prst="rect">
            <a:avLst/>
          </a:prstGeom>
          <a:solidFill>
            <a:srgbClr val="FFFFFF"/>
          </a:solidFill>
          <a:ln w="12700">
            <a:solidFill>
              <a:srgbClr val="A5D6A7"/>
            </a:solidFill>
            <a:prstDash val="solid"/>
          </a:ln>
          <a:effectLst>
            <a:outerShdw blurRad="50800" dist="25400" dir="8100000" algn="bl" rotWithShape="0">
              <a:srgbClr val="000000">
                <a:alpha val="7000"/>
              </a:srgbClr>
            </a:outerShdw>
          </a:effectLst>
        </p:spPr>
      </p:sp>
      <p:sp>
        <p:nvSpPr>
          <p:cNvPr id="30" name="Shape 27"/>
          <p:cNvSpPr/>
          <p:nvPr/>
        </p:nvSpPr>
        <p:spPr>
          <a:xfrm>
            <a:off x="6803136" y="3657600"/>
            <a:ext cx="2011680" cy="292608"/>
          </a:xfrm>
          <a:prstGeom prst="rect">
            <a:avLst/>
          </a:prstGeom>
          <a:solidFill>
            <a:srgbClr val="2E7D32"/>
          </a:solidFill>
          <a:ln w="12700">
            <a:solidFill>
              <a:srgbClr val="2E7D32"/>
            </a:solidFill>
            <a:prstDash val="solid"/>
          </a:ln>
        </p:spPr>
      </p:sp>
      <p:sp>
        <p:nvSpPr>
          <p:cNvPr id="31" name="Text 28"/>
          <p:cNvSpPr/>
          <p:nvPr/>
        </p:nvSpPr>
        <p:spPr>
          <a:xfrm>
            <a:off x="6876288" y="3685032"/>
            <a:ext cx="1883664" cy="237744"/>
          </a:xfrm>
          <a:prstGeom prst="rect">
            <a:avLst/>
          </a:prstGeom>
          <a:noFill/>
          <a:ln/>
        </p:spPr>
        <p:txBody>
          <a:bodyPr wrap="square" rtlCol="0" anchor="ctr"/>
          <a:lstStyle/>
          <a:p>
            <a:pPr marL="0" indent="0">
              <a:buNone/>
            </a:pPr>
            <a:r>
              <a:rPr lang="en-US" sz="900" b="1" dirty="0">
                <a:solidFill>
                  <a:srgbClr val="FFFFFF"/>
                </a:solidFill>
              </a:rPr>
              <a:t>  Mobile Health Alerts</a:t>
            </a:r>
            <a:endParaRPr lang="en-US" sz="900" dirty="0"/>
          </a:p>
        </p:txBody>
      </p:sp>
      <p:sp>
        <p:nvSpPr>
          <p:cNvPr id="32" name="Text 29"/>
          <p:cNvSpPr/>
          <p:nvPr/>
        </p:nvSpPr>
        <p:spPr>
          <a:xfrm>
            <a:off x="6876288" y="3995928"/>
            <a:ext cx="1883664" cy="868680"/>
          </a:xfrm>
          <a:prstGeom prst="rect">
            <a:avLst/>
          </a:prstGeom>
          <a:noFill/>
          <a:ln/>
        </p:spPr>
        <p:txBody>
          <a:bodyPr wrap="square" rtlCol="0" anchor="ctr"/>
          <a:lstStyle/>
          <a:p>
            <a:pPr marL="0" indent="0">
              <a:lnSpc>
                <a:spcPct val="135000"/>
              </a:lnSpc>
              <a:buNone/>
            </a:pPr>
            <a:r>
              <a:rPr lang="en-US" sz="850" dirty="0">
                <a:solidFill>
                  <a:srgbClr val="1C1C1C"/>
                </a:solidFill>
              </a:rPr>
              <a:t>Push notifications when AQI crosses danger threshold</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5E20"/>
          </a:solidFill>
          <a:ln w="12700">
            <a:solidFill>
              <a:srgbClr val="1B5E20"/>
            </a:solidFill>
            <a:prstDash val="solid"/>
          </a:ln>
        </p:spPr>
      </p:sp>
      <p:sp>
        <p:nvSpPr>
          <p:cNvPr id="3" name="Text 1"/>
          <p:cNvSpPr/>
          <p:nvPr/>
        </p:nvSpPr>
        <p:spPr>
          <a:xfrm>
            <a:off x="320040" y="0"/>
            <a:ext cx="8503920" cy="502920"/>
          </a:xfrm>
          <a:prstGeom prst="rect">
            <a:avLst/>
          </a:prstGeom>
          <a:noFill/>
          <a:ln/>
        </p:spPr>
        <p:txBody>
          <a:bodyPr wrap="square" rtlCol="0" anchor="ctr"/>
          <a:lstStyle/>
          <a:p>
            <a:pPr marL="0" indent="0">
              <a:buNone/>
            </a:pPr>
            <a:endParaRPr lang="en-US" sz="1000" dirty="0"/>
          </a:p>
        </p:txBody>
      </p:sp>
      <p:sp>
        <p:nvSpPr>
          <p:cNvPr id="4" name="Text 2"/>
          <p:cNvSpPr/>
          <p:nvPr/>
        </p:nvSpPr>
        <p:spPr>
          <a:xfrm>
            <a:off x="155448" y="59436"/>
            <a:ext cx="8503920" cy="384048"/>
          </a:xfrm>
          <a:prstGeom prst="rect">
            <a:avLst/>
          </a:prstGeom>
          <a:noFill/>
          <a:ln/>
        </p:spPr>
        <p:txBody>
          <a:bodyPr wrap="square" rtlCol="0" anchor="ctr"/>
          <a:lstStyle/>
          <a:p>
            <a:pPr marL="0" indent="0">
              <a:buNone/>
            </a:pPr>
            <a:r>
              <a:rPr lang="en-US" sz="2000" b="1" dirty="0">
                <a:solidFill>
                  <a:srgbClr val="1C1C1C"/>
                </a:solidFill>
              </a:rPr>
              <a:t>Conclusion</a:t>
            </a:r>
            <a:endParaRPr lang="en-US" sz="2000" dirty="0"/>
          </a:p>
        </p:txBody>
      </p:sp>
      <p:sp>
        <p:nvSpPr>
          <p:cNvPr id="5" name="Shape 3"/>
          <p:cNvSpPr/>
          <p:nvPr/>
        </p:nvSpPr>
        <p:spPr>
          <a:xfrm>
            <a:off x="306324" y="686503"/>
            <a:ext cx="8595360" cy="749808"/>
          </a:xfrm>
          <a:prstGeom prst="rect">
            <a:avLst/>
          </a:prstGeom>
          <a:solidFill>
            <a:srgbClr val="E8F5E9"/>
          </a:solidFill>
          <a:ln w="12700">
            <a:solidFill>
              <a:srgbClr val="A5D6A7"/>
            </a:solidFill>
            <a:prstDash val="solid"/>
          </a:ln>
        </p:spPr>
        <p:txBody>
          <a:bodyPr/>
          <a:lstStyle/>
          <a:p>
            <a:endParaRPr lang="en-IN" dirty="0"/>
          </a:p>
        </p:txBody>
      </p:sp>
      <p:sp>
        <p:nvSpPr>
          <p:cNvPr id="6" name="Shape 4"/>
          <p:cNvSpPr/>
          <p:nvPr/>
        </p:nvSpPr>
        <p:spPr>
          <a:xfrm>
            <a:off x="306324" y="686503"/>
            <a:ext cx="64008" cy="749808"/>
          </a:xfrm>
          <a:prstGeom prst="rect">
            <a:avLst/>
          </a:prstGeom>
          <a:solidFill>
            <a:srgbClr val="2E7D32"/>
          </a:solidFill>
          <a:ln w="12700">
            <a:solidFill>
              <a:srgbClr val="2E7D32"/>
            </a:solidFill>
            <a:prstDash val="solid"/>
          </a:ln>
        </p:spPr>
      </p:sp>
      <p:sp>
        <p:nvSpPr>
          <p:cNvPr id="7" name="Text 5"/>
          <p:cNvSpPr/>
          <p:nvPr/>
        </p:nvSpPr>
        <p:spPr>
          <a:xfrm>
            <a:off x="365760" y="719914"/>
            <a:ext cx="8321040" cy="658368"/>
          </a:xfrm>
          <a:prstGeom prst="rect">
            <a:avLst/>
          </a:prstGeom>
          <a:noFill/>
          <a:ln/>
        </p:spPr>
        <p:txBody>
          <a:bodyPr wrap="square" rtlCol="0" anchor="ctr"/>
          <a:lstStyle/>
          <a:p>
            <a:pPr marL="0" indent="0">
              <a:lnSpc>
                <a:spcPct val="140000"/>
              </a:lnSpc>
              <a:buNone/>
            </a:pPr>
            <a:r>
              <a:rPr lang="en-US" sz="1050" dirty="0">
                <a:solidFill>
                  <a:srgbClr val="1C1C1C"/>
                </a:solidFill>
              </a:rPr>
              <a:t>This project successfully demonstrates that Machine Learning — specifically Random Forest can analyze large-scale air quality data (842,015 records across 10+ Indian cities) and classify health risk levels with ~72% accuracy. The interactive Streamlit dashboard provides clear visualizations of AQI trends, pollutant levels, and health risks, making air quality data actionable for general users.</a:t>
            </a:r>
            <a:endParaRPr lang="en-US" sz="1050" dirty="0"/>
          </a:p>
        </p:txBody>
      </p:sp>
      <p:sp>
        <p:nvSpPr>
          <p:cNvPr id="8" name="Shape 6"/>
          <p:cNvSpPr/>
          <p:nvPr/>
        </p:nvSpPr>
        <p:spPr>
          <a:xfrm>
            <a:off x="274320" y="1920240"/>
            <a:ext cx="4206240" cy="1417320"/>
          </a:xfrm>
          <a:prstGeom prst="rect">
            <a:avLst/>
          </a:prstGeom>
          <a:solidFill>
            <a:srgbClr val="FFFFFF"/>
          </a:solidFill>
          <a:ln w="12700">
            <a:solidFill>
              <a:srgbClr val="A5D6A7"/>
            </a:solidFill>
            <a:prstDash val="solid"/>
          </a:ln>
          <a:effectLst>
            <a:outerShdw blurRad="63500" dist="25400" dir="8100000" algn="bl" rotWithShape="0">
              <a:srgbClr val="000000">
                <a:alpha val="7000"/>
              </a:srgbClr>
            </a:outerShdw>
          </a:effectLst>
        </p:spPr>
      </p:sp>
      <p:sp>
        <p:nvSpPr>
          <p:cNvPr id="9" name="Shape 7"/>
          <p:cNvSpPr/>
          <p:nvPr/>
        </p:nvSpPr>
        <p:spPr>
          <a:xfrm>
            <a:off x="274320" y="1920240"/>
            <a:ext cx="4206240" cy="310896"/>
          </a:xfrm>
          <a:prstGeom prst="rect">
            <a:avLst/>
          </a:prstGeom>
          <a:solidFill>
            <a:srgbClr val="2E7D32"/>
          </a:solidFill>
          <a:ln w="12700">
            <a:solidFill>
              <a:srgbClr val="2E7D32"/>
            </a:solidFill>
            <a:prstDash val="solid"/>
          </a:ln>
        </p:spPr>
      </p:sp>
      <p:sp>
        <p:nvSpPr>
          <p:cNvPr id="10" name="Text 8"/>
          <p:cNvSpPr/>
          <p:nvPr/>
        </p:nvSpPr>
        <p:spPr>
          <a:xfrm>
            <a:off x="365760" y="1956816"/>
            <a:ext cx="4041648" cy="246888"/>
          </a:xfrm>
          <a:prstGeom prst="rect">
            <a:avLst/>
          </a:prstGeom>
          <a:noFill/>
          <a:ln/>
        </p:spPr>
        <p:txBody>
          <a:bodyPr wrap="square" rtlCol="0" anchor="ctr"/>
          <a:lstStyle/>
          <a:p>
            <a:pPr marL="0" indent="0">
              <a:buNone/>
            </a:pPr>
            <a:r>
              <a:rPr lang="en-US" sz="1050" b="1" dirty="0">
                <a:solidFill>
                  <a:srgbClr val="FFFFFF"/>
                </a:solidFill>
              </a:rPr>
              <a:t>  72% Accuracy Achieved</a:t>
            </a:r>
            <a:endParaRPr lang="en-US" sz="1050" dirty="0"/>
          </a:p>
        </p:txBody>
      </p:sp>
      <p:sp>
        <p:nvSpPr>
          <p:cNvPr id="11" name="Text 9"/>
          <p:cNvSpPr/>
          <p:nvPr/>
        </p:nvSpPr>
        <p:spPr>
          <a:xfrm>
            <a:off x="365760" y="2286000"/>
            <a:ext cx="4041648" cy="987552"/>
          </a:xfrm>
          <a:prstGeom prst="rect">
            <a:avLst/>
          </a:prstGeom>
          <a:noFill/>
          <a:ln/>
        </p:spPr>
        <p:txBody>
          <a:bodyPr wrap="square" rtlCol="0" anchor="ctr"/>
          <a:lstStyle/>
          <a:p>
            <a:pPr marL="0" indent="0">
              <a:lnSpc>
                <a:spcPct val="138000"/>
              </a:lnSpc>
              <a:buNone/>
            </a:pPr>
            <a:r>
              <a:rPr lang="en-US" sz="950" dirty="0">
                <a:solidFill>
                  <a:srgbClr val="1C1C1C"/>
                </a:solidFill>
              </a:rPr>
              <a:t>Random Forest classifier trained on 842K records correctly classified AQI health risk levels — Good, Moderate, Unhealthy, Hazardous.</a:t>
            </a:r>
            <a:endParaRPr lang="en-US" sz="950" dirty="0"/>
          </a:p>
        </p:txBody>
      </p:sp>
      <p:sp>
        <p:nvSpPr>
          <p:cNvPr id="12" name="Shape 10"/>
          <p:cNvSpPr/>
          <p:nvPr/>
        </p:nvSpPr>
        <p:spPr>
          <a:xfrm>
            <a:off x="4709160" y="1920240"/>
            <a:ext cx="4206240" cy="1417320"/>
          </a:xfrm>
          <a:prstGeom prst="rect">
            <a:avLst/>
          </a:prstGeom>
          <a:solidFill>
            <a:srgbClr val="FFFFFF"/>
          </a:solidFill>
          <a:ln w="12700">
            <a:solidFill>
              <a:srgbClr val="A5D6A7"/>
            </a:solidFill>
            <a:prstDash val="solid"/>
          </a:ln>
          <a:effectLst>
            <a:outerShdw blurRad="63500" dist="25400" dir="8100000" algn="bl" rotWithShape="0">
              <a:srgbClr val="000000">
                <a:alpha val="7000"/>
              </a:srgbClr>
            </a:outerShdw>
          </a:effectLst>
        </p:spPr>
      </p:sp>
      <p:sp>
        <p:nvSpPr>
          <p:cNvPr id="13" name="Shape 11"/>
          <p:cNvSpPr/>
          <p:nvPr/>
        </p:nvSpPr>
        <p:spPr>
          <a:xfrm>
            <a:off x="4709160" y="1920240"/>
            <a:ext cx="4206240" cy="310896"/>
          </a:xfrm>
          <a:prstGeom prst="rect">
            <a:avLst/>
          </a:prstGeom>
          <a:solidFill>
            <a:srgbClr val="2E7D32"/>
          </a:solidFill>
          <a:ln w="12700">
            <a:solidFill>
              <a:srgbClr val="2E7D32"/>
            </a:solidFill>
            <a:prstDash val="solid"/>
          </a:ln>
        </p:spPr>
      </p:sp>
      <p:sp>
        <p:nvSpPr>
          <p:cNvPr id="14" name="Text 12"/>
          <p:cNvSpPr/>
          <p:nvPr/>
        </p:nvSpPr>
        <p:spPr>
          <a:xfrm>
            <a:off x="4800600" y="1956816"/>
            <a:ext cx="4041648" cy="246888"/>
          </a:xfrm>
          <a:prstGeom prst="rect">
            <a:avLst/>
          </a:prstGeom>
          <a:noFill/>
          <a:ln/>
        </p:spPr>
        <p:txBody>
          <a:bodyPr wrap="square" rtlCol="0" anchor="ctr"/>
          <a:lstStyle/>
          <a:p>
            <a:pPr marL="0" indent="0">
              <a:buNone/>
            </a:pPr>
            <a:r>
              <a:rPr lang="en-US" sz="1050" b="1" dirty="0">
                <a:solidFill>
                  <a:srgbClr val="FFFFFF"/>
                </a:solidFill>
              </a:rPr>
              <a:t>  Delhi Most Polluted (154.16)</a:t>
            </a:r>
            <a:endParaRPr lang="en-US" sz="1050" dirty="0"/>
          </a:p>
        </p:txBody>
      </p:sp>
      <p:sp>
        <p:nvSpPr>
          <p:cNvPr id="15" name="Text 13"/>
          <p:cNvSpPr/>
          <p:nvPr/>
        </p:nvSpPr>
        <p:spPr>
          <a:xfrm>
            <a:off x="4800600" y="2286000"/>
            <a:ext cx="4041648" cy="987552"/>
          </a:xfrm>
          <a:prstGeom prst="rect">
            <a:avLst/>
          </a:prstGeom>
          <a:noFill/>
          <a:ln/>
        </p:spPr>
        <p:txBody>
          <a:bodyPr wrap="square" rtlCol="0" anchor="ctr"/>
          <a:lstStyle/>
          <a:p>
            <a:pPr marL="0" indent="0">
              <a:lnSpc>
                <a:spcPct val="138000"/>
              </a:lnSpc>
              <a:buNone/>
            </a:pPr>
            <a:r>
              <a:rPr lang="en-US" sz="950" dirty="0">
                <a:solidFill>
                  <a:srgbClr val="1C1C1C"/>
                </a:solidFill>
              </a:rPr>
              <a:t>Multi-city analysis revealed Delhi, Gurugram &amp; Patna top polluters. AQI spikes in Nov–Dec driven by crop burning &amp; temperature inversions.</a:t>
            </a:r>
            <a:endParaRPr lang="en-US" sz="950" dirty="0"/>
          </a:p>
        </p:txBody>
      </p:sp>
      <p:sp>
        <p:nvSpPr>
          <p:cNvPr id="16" name="Shape 14"/>
          <p:cNvSpPr/>
          <p:nvPr/>
        </p:nvSpPr>
        <p:spPr>
          <a:xfrm>
            <a:off x="274320" y="3474720"/>
            <a:ext cx="4206240" cy="1417320"/>
          </a:xfrm>
          <a:prstGeom prst="rect">
            <a:avLst/>
          </a:prstGeom>
          <a:solidFill>
            <a:srgbClr val="FFFFFF"/>
          </a:solidFill>
          <a:ln w="12700">
            <a:solidFill>
              <a:srgbClr val="A5D6A7"/>
            </a:solidFill>
            <a:prstDash val="solid"/>
          </a:ln>
          <a:effectLst>
            <a:outerShdw blurRad="63500" dist="25400" dir="8100000" algn="bl" rotWithShape="0">
              <a:srgbClr val="000000">
                <a:alpha val="7000"/>
              </a:srgbClr>
            </a:outerShdw>
          </a:effectLst>
        </p:spPr>
      </p:sp>
      <p:sp>
        <p:nvSpPr>
          <p:cNvPr id="17" name="Shape 15"/>
          <p:cNvSpPr/>
          <p:nvPr/>
        </p:nvSpPr>
        <p:spPr>
          <a:xfrm>
            <a:off x="274320" y="3474720"/>
            <a:ext cx="4206240" cy="310896"/>
          </a:xfrm>
          <a:prstGeom prst="rect">
            <a:avLst/>
          </a:prstGeom>
          <a:solidFill>
            <a:srgbClr val="2E7D32"/>
          </a:solidFill>
          <a:ln w="12700">
            <a:solidFill>
              <a:srgbClr val="2E7D32"/>
            </a:solidFill>
            <a:prstDash val="solid"/>
          </a:ln>
        </p:spPr>
      </p:sp>
      <p:sp>
        <p:nvSpPr>
          <p:cNvPr id="18" name="Text 16"/>
          <p:cNvSpPr/>
          <p:nvPr/>
        </p:nvSpPr>
        <p:spPr>
          <a:xfrm>
            <a:off x="365760" y="3511296"/>
            <a:ext cx="4041648" cy="246888"/>
          </a:xfrm>
          <a:prstGeom prst="rect">
            <a:avLst/>
          </a:prstGeom>
          <a:noFill/>
          <a:ln/>
        </p:spPr>
        <p:txBody>
          <a:bodyPr wrap="square" rtlCol="0" anchor="ctr"/>
          <a:lstStyle/>
          <a:p>
            <a:pPr marL="0" indent="0">
              <a:buNone/>
            </a:pPr>
            <a:r>
              <a:rPr lang="en-US" sz="1050" b="1" dirty="0">
                <a:solidFill>
                  <a:srgbClr val="FFFFFF"/>
                </a:solidFill>
              </a:rPr>
              <a:t>  Dashboard Built on Streamlit</a:t>
            </a:r>
            <a:endParaRPr lang="en-US" sz="1050" dirty="0"/>
          </a:p>
        </p:txBody>
      </p:sp>
      <p:sp>
        <p:nvSpPr>
          <p:cNvPr id="19" name="Text 17"/>
          <p:cNvSpPr/>
          <p:nvPr/>
        </p:nvSpPr>
        <p:spPr>
          <a:xfrm>
            <a:off x="365760" y="3840480"/>
            <a:ext cx="4041648" cy="987552"/>
          </a:xfrm>
          <a:prstGeom prst="rect">
            <a:avLst/>
          </a:prstGeom>
          <a:noFill/>
          <a:ln/>
        </p:spPr>
        <p:txBody>
          <a:bodyPr wrap="square" rtlCol="0" anchor="ctr"/>
          <a:lstStyle/>
          <a:p>
            <a:pPr marL="0" indent="0">
              <a:lnSpc>
                <a:spcPct val="138000"/>
              </a:lnSpc>
              <a:buNone/>
            </a:pPr>
            <a:r>
              <a:rPr lang="en-US" sz="950" dirty="0">
                <a:solidFill>
                  <a:srgbClr val="1C1C1C"/>
                </a:solidFill>
              </a:rPr>
              <a:t>Interactive dashboard shows AQI map, trends, pollutant comparisons, health risk prediction &amp; city ranking in one place.</a:t>
            </a:r>
            <a:endParaRPr lang="en-US" sz="950" dirty="0"/>
          </a:p>
        </p:txBody>
      </p:sp>
      <p:sp>
        <p:nvSpPr>
          <p:cNvPr id="20" name="Shape 18"/>
          <p:cNvSpPr/>
          <p:nvPr/>
        </p:nvSpPr>
        <p:spPr>
          <a:xfrm>
            <a:off x="4709160" y="3474720"/>
            <a:ext cx="4206240" cy="1417320"/>
          </a:xfrm>
          <a:prstGeom prst="rect">
            <a:avLst/>
          </a:prstGeom>
          <a:solidFill>
            <a:srgbClr val="FFFFFF"/>
          </a:solidFill>
          <a:ln w="12700">
            <a:solidFill>
              <a:srgbClr val="A5D6A7"/>
            </a:solidFill>
            <a:prstDash val="solid"/>
          </a:ln>
          <a:effectLst>
            <a:outerShdw blurRad="63500" dist="25400" dir="8100000" algn="bl" rotWithShape="0">
              <a:srgbClr val="000000">
                <a:alpha val="7000"/>
              </a:srgbClr>
            </a:outerShdw>
          </a:effectLst>
        </p:spPr>
      </p:sp>
      <p:sp>
        <p:nvSpPr>
          <p:cNvPr id="21" name="Shape 19"/>
          <p:cNvSpPr/>
          <p:nvPr/>
        </p:nvSpPr>
        <p:spPr>
          <a:xfrm>
            <a:off x="4709160" y="3474720"/>
            <a:ext cx="4206240" cy="310896"/>
          </a:xfrm>
          <a:prstGeom prst="rect">
            <a:avLst/>
          </a:prstGeom>
          <a:solidFill>
            <a:srgbClr val="2E7D32"/>
          </a:solidFill>
          <a:ln w="12700">
            <a:solidFill>
              <a:srgbClr val="2E7D32"/>
            </a:solidFill>
            <a:prstDash val="solid"/>
          </a:ln>
        </p:spPr>
      </p:sp>
      <p:sp>
        <p:nvSpPr>
          <p:cNvPr id="22" name="Text 20"/>
          <p:cNvSpPr/>
          <p:nvPr/>
        </p:nvSpPr>
        <p:spPr>
          <a:xfrm>
            <a:off x="4800600" y="3511296"/>
            <a:ext cx="4041648" cy="246888"/>
          </a:xfrm>
          <a:prstGeom prst="rect">
            <a:avLst/>
          </a:prstGeom>
          <a:noFill/>
          <a:ln/>
        </p:spPr>
        <p:txBody>
          <a:bodyPr wrap="square" rtlCol="0" anchor="ctr"/>
          <a:lstStyle/>
          <a:p>
            <a:pPr marL="0" indent="0">
              <a:buNone/>
            </a:pPr>
            <a:r>
              <a:rPr lang="en-US" sz="1050" b="1" dirty="0">
                <a:solidFill>
                  <a:srgbClr val="FFFFFF"/>
                </a:solidFill>
              </a:rPr>
              <a:t>  Strong Foundation for Future</a:t>
            </a:r>
            <a:endParaRPr lang="en-US" sz="1050" dirty="0"/>
          </a:p>
        </p:txBody>
      </p:sp>
      <p:sp>
        <p:nvSpPr>
          <p:cNvPr id="23" name="Text 21"/>
          <p:cNvSpPr/>
          <p:nvPr/>
        </p:nvSpPr>
        <p:spPr>
          <a:xfrm>
            <a:off x="4800600" y="3840480"/>
            <a:ext cx="4041648" cy="987552"/>
          </a:xfrm>
          <a:prstGeom prst="rect">
            <a:avLst/>
          </a:prstGeom>
          <a:noFill/>
          <a:ln/>
        </p:spPr>
        <p:txBody>
          <a:bodyPr wrap="square" rtlCol="0" anchor="ctr"/>
          <a:lstStyle/>
          <a:p>
            <a:pPr marL="0" indent="0">
              <a:lnSpc>
                <a:spcPct val="138000"/>
              </a:lnSpc>
              <a:buNone/>
            </a:pPr>
            <a:r>
              <a:rPr lang="en-US" sz="950" dirty="0">
                <a:solidFill>
                  <a:srgbClr val="1C1C1C"/>
                </a:solidFill>
              </a:rPr>
              <a:t>Work completed establishes baseline for LSTM forecasting, real-time data integration, and extended health alert systems.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TotalTime>
  <Words>1249</Words>
  <Application>Microsoft Office PowerPoint</Application>
  <PresentationFormat>On-screen Show (16:9)</PresentationFormat>
  <Paragraphs>188</Paragraphs>
  <Slides>11</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Future of AI in Healthcare: Addressing Air Pollution Challenges</dc:title>
  <dc:subject>PptxGenJS Presentation</dc:subject>
  <dc:creator>PptxGenJS</dc:creator>
  <cp:lastModifiedBy>Priyanshi Mehta</cp:lastModifiedBy>
  <cp:revision>4</cp:revision>
  <dcterms:created xsi:type="dcterms:W3CDTF">2026-03-11T04:13:36Z</dcterms:created>
  <dcterms:modified xsi:type="dcterms:W3CDTF">2026-03-11T22:52:15Z</dcterms:modified>
</cp:coreProperties>
</file>