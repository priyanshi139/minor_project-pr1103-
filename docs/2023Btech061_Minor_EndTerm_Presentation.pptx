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283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2B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PM2.5</c:v>
                  </c:pt>
                  <c:pt idx="1">
                    <c:v>PM10</c:v>
                  </c:pt>
                  <c:pt idx="2">
                    <c:v>CO</c:v>
                  </c:pt>
                  <c:pt idx="3">
                    <c:v>NO2</c:v>
                  </c:pt>
                  <c:pt idx="4">
                    <c:v>Temperature</c:v>
                  </c:pt>
                  <c:pt idx="5">
                    <c:v>Humidity</c:v>
                  </c:pt>
                  <c:pt idx="6">
                    <c:v>Wind Speed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</c:v>
                </c:pt>
                <c:pt idx="1">
                  <c:v>0.22</c:v>
                </c:pt>
                <c:pt idx="2">
                  <c:v>0.16</c:v>
                </c:pt>
                <c:pt idx="3">
                  <c:v>0.11</c:v>
                </c:pt>
                <c:pt idx="4">
                  <c:v>0.09</c:v>
                </c:pt>
                <c:pt idx="5">
                  <c:v>0.08</c:v>
                </c:pt>
                <c:pt idx="6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 Lakshmipat University, Jaipur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Analysis using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Environmental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2514600"/>
            <a:ext cx="4572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— End Term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2560320" cy="777240"/>
          </a:xfrm>
          <a:prstGeom prst="rect">
            <a:avLst/>
          </a:prstGeom>
          <a:solidFill>
            <a:srgbClr val="0A4D6E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Mehta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2023Btech061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154680"/>
            <a:ext cx="2560320" cy="777240"/>
          </a:xfrm>
          <a:prstGeom prst="rect">
            <a:avLst/>
          </a:prstGeom>
          <a:solidFill>
            <a:srgbClr val="0A4D6E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Amit Sinhal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CS&amp;E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2560320" cy="777240"/>
          </a:xfrm>
          <a:prstGeom prst="rect">
            <a:avLst/>
          </a:prstGeom>
          <a:solidFill>
            <a:srgbClr val="0A4D6E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&amp; AI 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AQI Forecasting  •  CNN-BiLSTM  •  XGBoost  •  Streamlit Dashboard  •  Real-Time Integration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motivation, objectives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1168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of 5 research papers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246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cities, 44 features,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4904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794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114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+ Attention + XGBoost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14300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80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1508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AQI, forecasts, health advisory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01168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01168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rankings, pollutant analysis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4206240" cy="7315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880360"/>
            <a:ext cx="5029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13248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3246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37160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8138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 critical public health challenge in Indian cities. This project proposes an end-to-end intelligent system for AQI forecasting and personalized health risk analysis using a hybrid CNN-BiLSTM model with temporal attention, trained for 26 Indian cities. Live data from OpenWeatherMap and Open-Meteo APIs powers a Streamlit dashboard delivering 7-day hourly forecasts and personalized health advisories.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Gaps Addressed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256032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3464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focus on historical analysis — no city-specific forecasts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328416"/>
            <a:ext cx="256032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101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health guidance for vulnerable groups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803904"/>
            <a:ext cx="256032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8561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Single-location models — lack multi-city coverage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279392"/>
            <a:ext cx="256032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6110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integration with live environmental APIs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542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52928"/>
            <a:ext cx="256032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8346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City-specific deep learning models for AQI forecasting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328416"/>
            <a:ext cx="256032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31012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Live environmental data for real-time monitoring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803904"/>
            <a:ext cx="256032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7856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Personalized health advisories via interactive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4279392"/>
            <a:ext cx="256032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42611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Covers 29 Indian cities with hourly 7-day forecasts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Paper / Author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Limitations / Gap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Gupta &amp; Kumar (2023)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ML models for AQI prediction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Limited models, no deep learning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Kumar et al. (2024)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Regression-based PM2.5 prediction — Delhi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Location-specific, no hybrid models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Singh &amp; Suthar (2025)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Random Forest + Linear Regression — Jaipur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 real-time prediction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Zhang et al. (2020)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LSTM deep learning for pollution prediction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 complexity, low explainability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Devarakonda et al. (2018)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SVM, Decision Tree — real-time AQI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Limited features, no health risk analysis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Gap Identified: No existing system provides multi-city AQI forecasting + personalized health advisory + real-time live integration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9202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842,015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(after cleaning)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1078992"/>
            <a:ext cx="19202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19202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1078992"/>
            <a:ext cx="19202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 (Source: CPCB Air Monitoring)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60520" cy="429768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414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24414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State, Latitude, Longitude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4436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294436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Datetime, Year, Month, Day, Hour, Day_of_Week, Season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4160520" cy="429768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44728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44728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Temp_2m_C, Humidity_Percent, Dew_Point_C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502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0" y="395020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Wind_Speed_10m_Kmh, Wind_Dir_10m, Wind_Gusts_Kmh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4160520" cy="429768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4531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45920" y="445312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Precipitation_mm, Rain_mm, Is_Raining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37744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24414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24414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Pressure_MSL_hPa, Surface_Pressure_hPa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880360"/>
            <a:ext cx="4160520" cy="429768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94436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Solar/Cloud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94436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Solar_Radiation, Cloud_Cover, Sunshine_Seconds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38328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44728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9320" y="344728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CO, NO2, SO2, O3 (µg/m³)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886200"/>
            <a:ext cx="4160520" cy="429768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9502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Indicators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395020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US_AQI, EU_AQI, AQI_Category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4389120"/>
            <a:ext cx="4160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44531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89320" y="445312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Temp_Inversion, Festival_Period, Crop_Burning_Season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5214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air quality &amp; weather data — 26 cities, 2022–2025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68296" y="192024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9728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09728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15214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5544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Forward/backward fill, datetime parsing, MinMaxScaler per city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17136" y="192024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9728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115214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features: cyclical time, lag (1–48h), rolling stats, interaction terms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65976" y="192024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09728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09728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115214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155448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+ Attention (per city); XGBoost baseline; RF classifier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06324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08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11810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+ Open-Meteo APIs refreshed every 30 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14600" y="306324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306324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108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17520" y="311810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35204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forecast, health advisory, AQI map, analytics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1965960" cy="169164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063240"/>
            <a:ext cx="1965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108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311810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Output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5204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advisories by age, health conditions, planned activity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CNN-BiLSTM with Attention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297680" cy="54864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06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sequence, 44 features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627632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00784"/>
            <a:ext cx="429768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28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Block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Conv1D (64 filters, kernel=3) + BatchNorm + Dropout(0.2)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249424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42976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0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Block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 bidirectional (256 combined) + Dropout(0.25)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2871216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44368"/>
            <a:ext cx="42976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Block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 bidirectional (128 combined) + Dropout(0.2)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3493008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4297680" cy="5486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31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Dense(1,tanh) → Softmax → weighted context vector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4114800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87952"/>
            <a:ext cx="42976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15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53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128→64→32→1 (linear) with BatchNorm &amp; Dropout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1399032"/>
            <a:ext cx="3749040" cy="347472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0528" y="1435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(robust to outliers)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1783080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819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10528" y="1819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(lr=8e-4, grad clip=1.0)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2167128"/>
            <a:ext cx="3749040" cy="347472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10528" y="2203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12 epochs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2551176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10528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(patience=5)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2935224"/>
            <a:ext cx="3749040" cy="347472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10528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 (SEQ_LEN=48)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331927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355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10528" y="3355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10% / 10% split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0" y="3703320"/>
            <a:ext cx="3749040" cy="347472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3739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1052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|  Max Epochs: 120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0" y="4087368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123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10528" y="4123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(GPU-accelerated)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0" y="4572000"/>
            <a:ext cx="374904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608576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Baseline: n_estimators=500, lr=0.05, max_depth=6, subsample=0.8 — trained for comparative benchmarking.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920240" cy="10972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71.28%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2761488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734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100+ decision trees — reduces overfitting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16382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136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between pollutants &amp; AQI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566160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mixed feature types (numeric + categorical)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968496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941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— identifies key pollutants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370832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343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in weather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13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663440" y="274320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365760" y="4709160"/>
            <a:ext cx="4114800" cy="338328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736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Classes: Good | Moderate | Unhealthy for Sensitive | Unhealthy | Very Unhealthy | Hazardous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Model Performance — All 26 Cities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685800"/>
                <a:gridCol w="777240"/>
                <a:gridCol w="1280160"/>
                <a:gridCol w="731520"/>
                <a:gridCol w="685800"/>
                <a:gridCol w="7772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Agartala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1.84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0.87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0.9980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Chennai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2.25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1.08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0.9930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Ahmedabad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1.46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0.9982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Dehradun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2.50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1.24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0.9862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Aizawl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0.55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0.9965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9.91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2.51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0.9802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Bengaluru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0.86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0.59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0.9991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Gurugram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Bhopal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0.56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0.9994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Hyderabad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1.12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0.9989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Bhubaneswar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0.63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0.9994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Imphal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0.54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0.41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0.9990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Chandigarh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2.82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1.39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0.9891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Jaipur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1.55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0.88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0.9975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8970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Most cities achieve R² &gt; 0.990 — CNN-BiLSTM outperforms XGBoost for long-horizon temporal forecasting due to sequential memory.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Live AQI &amp; 7-Day Forecast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425196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27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Live Conditions 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(Agartala — 24 Apr 2026)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78992"/>
            <a:ext cx="406908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12724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7-Day AQI Forecast with Daily Cards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20440"/>
            <a:ext cx="8503920" cy="1417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495604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Hourly AQI Forecast Chart and Health Risk Level Timeline (Next 7 Days)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Advisory Module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420624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5844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Day-by-Day Personalized Advisory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AQI Risk Level &amp; Planned Activity)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78992"/>
            <a:ext cx="40690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5844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Historical AQI Trend — Jaipur (2025)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Forecast CSV Download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20040" y="40050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Module Features: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7472" y="4352544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" y="4325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User age, health conditions (Asthma, COPD, Heart Disease, Diabetes), planned activity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47472" y="4700016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1792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Day-specific guidance — 'Air quality is good. Go for it!' or 'Avoid outdoor exposure'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347472" y="5047488"/>
            <a:ext cx="182880" cy="1828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50200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Running, Cycling, Yoga/Walking, Indoor/Work, Kids Outdoor Play, Commuting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&amp; Historical AQI Analysis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8503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944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Seasonal AQI Analysis — Average by Season &amp; Hourly Pattern (Jaipur)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73552"/>
            <a:ext cx="4114800" cy="1280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572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Monthly AQI Heatmap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2022–2025, Jaipur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73552"/>
            <a:ext cx="4069080" cy="1280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4880" y="45720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8: India AQI Map — City-wise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Rankings &amp; Pollutant Analysis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4206240" cy="1783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8986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9: Top 10 Most Polluted Cities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Average AQI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78992"/>
            <a:ext cx="4069080" cy="1783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28986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10: Pollutant Levels — Agartala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(PM2.5, PM10, NO2, SO2, O3, CO)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46120"/>
            <a:ext cx="5029200" cy="1600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4873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11: AQI Category Distribution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Dataset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5577840" y="3246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Ranking (Average AQI)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547872"/>
          <a:ext cx="3291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600200"/>
                <a:gridCol w="1188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AQI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62839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62839"/>
                          </a:solidFill>
                        </a:rPr>
                        <a:t>Gurugram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62839"/>
                          </a:solidFill>
                        </a:rPr>
                        <a:t>399.99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194.90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131.17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Patna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130.87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Raipur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121.58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Chandigarh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120.22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Kolkata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119.25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Jaipur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107.20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Mumbai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104.56</a:t>
                      </a:r>
                      <a:endParaRPr lang="en-US" sz="95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Analysis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850392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035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12: Festival &amp; Crop Burning Impact on AQI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3401568"/>
            <a:ext cx="8503920" cy="365760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34381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🎆  Festival periods show AQI spikes — firework emissions significantly elevate PM2.5 and PM10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" y="380390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3840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Crop burning season causes notable increase in pollution across North Indian cities (Oct–Nov)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solidFill>
            <a:srgbClr val="EDF6F9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42428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Winter months (Nov–Jan) record highest average AQI — temperature inversions trap pollutants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460857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C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Monsoon season (Jun–Sep) shows lowest AQI — rainfall cleanses particulate matter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Performance — Comparative Analysis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85039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8587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14: XGBoost R² Score &amp; RMSE — All Cities (Higher R² = Better | Lower RMSE = Better)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0624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CNN-BiLSTM + Attention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Sequential memory, temporal patterns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Long-horizon hourly forecasting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Speed, flat feature analysis, interpretability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Short-horizon &amp; feature importance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Robustness, mixed feature handling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AQI risk category classification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118872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Most Polluted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517904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AQI of 399.99, followed by Delhi (194.90) — NCR region shows severe pollution levels.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50292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0952" y="117043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North-East Cleanest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0952" y="1517904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Agartala, Aizawl, Kohima record lowest AQI consistently due to lower industrialisation and favourable meteorology.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95728"/>
            <a:ext cx="50292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79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46888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&amp; PM10 Dominant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816352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pollutants driving AQI; CO shows significant spikes in high-pollution cities like Delhi and Gurugram.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95728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95728"/>
            <a:ext cx="5029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79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0952" y="246888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Excels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0952" y="2816352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R² &gt; 0.990 for most cities. Outperforms XGBoost for longer temporal horizons due to sequential memory.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94176"/>
            <a:ext cx="502920" cy="1188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78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3767328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Clear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114800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(Nov–Jan) worst AQI; Monsoon (Jun–Sep) best. Festival periods and crop burning cause AQI spikes.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188720"/>
          </a:xfrm>
          <a:prstGeom prst="rect">
            <a:avLst/>
          </a:prstGeom>
          <a:solidFill>
            <a:srgbClr val="EDF6F9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694176"/>
            <a:ext cx="50292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78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30952" y="3767328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Functional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4114800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AQI refreshed every 30 min. 7-day hourly forecasts generated per city with personalized health advisories.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201168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710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AQI forecasting system built for 26 Indian cities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" y="1737360"/>
            <a:ext cx="201168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09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with attention achieves R² &gt; 0.990 for most cities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176272"/>
            <a:ext cx="201168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48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advisories tailored to user profiles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615184"/>
            <a:ext cx="201168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587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 integrated — dashboard refreshes every 30 minutes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3054096"/>
            <a:ext cx="201168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026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technical modelling &amp; public health communication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64608" y="1298448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12710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forecasting beyond 7 days (encoder-decoder)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64608" y="1737360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1709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remote sensing data integration (MODIS AOD)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64608" y="2176272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2148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(Temporal Fusion Transformer)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2615184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587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broader public accessibility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3054096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026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via health authority integrations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64608" y="3493008"/>
            <a:ext cx="201168" cy="2011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tier-2 and tier-3 cities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71600" y="4251960"/>
            <a:ext cx="6400800" cy="685800"/>
          </a:xfrm>
          <a:prstGeom prst="rect">
            <a:avLst/>
          </a:prstGeom>
          <a:solidFill>
            <a:srgbClr val="0A4D6E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4279392"/>
            <a:ext cx="6400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Mehta  |  2023Btech061  |  Supervisor: Dr. Amit Sinhal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Risk Analysis using ML and Environmental Data - End Term</dc:title>
  <dc:subject>PptxGenJS Presentation</dc:subject>
  <dc:creator>PptxGenJS</dc:creator>
  <cp:lastModifiedBy>PptxGenJS</cp:lastModifiedBy>
  <cp:revision>1</cp:revision>
  <dcterms:created xsi:type="dcterms:W3CDTF">2026-04-26T14:08:49Z</dcterms:created>
  <dcterms:modified xsi:type="dcterms:W3CDTF">2026-04-26T14:08:49Z</dcterms:modified>
</cp:coreProperties>
</file>