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i Mehta" userId="777ad2dd8e49d1f2" providerId="LiveId" clId="{4A3F04B6-041A-48EE-A9AE-A1A4C889CE69}"/>
    <pc:docChg chg="modSld">
      <pc:chgData name="Priyanshi Mehta" userId="777ad2dd8e49d1f2" providerId="LiveId" clId="{4A3F04B6-041A-48EE-A9AE-A1A4C889CE69}" dt="2026-03-11T13:59:40.814" v="9" actId="20577"/>
      <pc:docMkLst>
        <pc:docMk/>
      </pc:docMkLst>
      <pc:sldChg chg="modSp mod">
        <pc:chgData name="Priyanshi Mehta" userId="777ad2dd8e49d1f2" providerId="LiveId" clId="{4A3F04B6-041A-48EE-A9AE-A1A4C889CE69}" dt="2026-03-11T13:59:40.814" v="9" actId="20577"/>
        <pc:sldMkLst>
          <pc:docMk/>
          <pc:sldMk cId="0" sldId="261"/>
        </pc:sldMkLst>
        <pc:spChg chg="mod">
          <ac:chgData name="Priyanshi Mehta" userId="777ad2dd8e49d1f2" providerId="LiveId" clId="{4A3F04B6-041A-48EE-A9AE-A1A4C889CE69}" dt="2026-03-11T13:59:32.270" v="5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riyanshi Mehta" userId="777ad2dd8e49d1f2" providerId="LiveId" clId="{4A3F04B6-041A-48EE-A9AE-A1A4C889CE69}" dt="2026-03-11T13:59:27.179" v="1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Priyanshi Mehta" userId="777ad2dd8e49d1f2" providerId="LiveId" clId="{4A3F04B6-041A-48EE-A9AE-A1A4C889CE69}" dt="2026-03-11T13:59:40.814" v="9" actId="20577"/>
          <ac:spMkLst>
            <pc:docMk/>
            <pc:sldMk cId="0" sldId="261"/>
            <ac:spMk id="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81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601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    Health Risk Analysis using Machine Learning 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" y="1627632"/>
            <a:ext cx="773371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                          Environmental Data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7625" y="2944368"/>
            <a:ext cx="8120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</a:rPr>
              <a:t>Presented By: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3310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Priyanshi Mehta  |  Roll No: 2023Btech061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" y="3630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Supervisor: Dr. Amit Sinhal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3904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</a:rPr>
              <a:t>Department of Computer Science &amp; Engineering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2885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LITERATURE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 Research Papers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0116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Reference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1078992"/>
            <a:ext cx="28346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10789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Methodology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12080" y="1078992"/>
            <a:ext cx="3657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Gap / Limitation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481328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481328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5544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Gupta &amp; Kumar (2023)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04872" y="15544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ML models for AQI prediction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85232" y="15544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4F00"/>
                </a:solidFill>
              </a:rPr>
              <a:t> Limited models, no deep learning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39696"/>
            <a:ext cx="2011680" cy="59436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2139696"/>
            <a:ext cx="2834640" cy="59436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139696"/>
            <a:ext cx="3657600" cy="59436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212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Kumar et al. (2024)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04872" y="22128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Regression-based PM2.5 prediction — Delhi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85232" y="22128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4F00"/>
                </a:solidFill>
              </a:rPr>
              <a:t> Location-specific, no hybrid models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798064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2798064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2798064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8712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Singh &amp; Suthar (2025)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04872" y="287121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Random Forest + Linear Regression — Jaipur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85232" y="28712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4F00"/>
                </a:solidFill>
              </a:rPr>
              <a:t>No real-time prediction capability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56432"/>
            <a:ext cx="2011680" cy="59436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31720" y="3456432"/>
            <a:ext cx="2834640" cy="59436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3456432"/>
            <a:ext cx="3657600" cy="59436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529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Zhang et al. (2020)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04872" y="352958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LSTM deep learning for pollution prediction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85232" y="352958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4F00"/>
                </a:solidFill>
              </a:rPr>
              <a:t>High complexity, low explainability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1480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31720" y="411480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4114800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1879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Devarakonda et al. (2018)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04872" y="4187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SVM, Decision Tree — real-time AQI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85232" y="41879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4F00"/>
                </a:solidFill>
              </a:rPr>
              <a:t> Limited features, no health risk analysis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OBJECTIVE  •  RESEARCH GAPS  •  OUR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Objective, Gaps &amp; Our Approach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  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350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C1C1C"/>
                </a:solidFill>
              </a:rPr>
              <a:t>Air pollution poses a serious public health threat in Indian cities. The objective is to analyze large-scale air quality data, classify health risk levels using Machine Learning, and provide actionable insights through an interactive real-time dashboard.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Research Gaps in Existing 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411480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414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4F00"/>
                </a:solidFill>
              </a:rPr>
              <a:t> Limited to single location, no multi-city analysis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798064"/>
            <a:ext cx="411480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52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4F00"/>
                </a:solidFill>
              </a:rPr>
              <a:t>  No integration of health risk categorization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36976"/>
            <a:ext cx="411480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4F00"/>
                </a:solidFill>
              </a:rPr>
              <a:t>  Deep learning models lack explainability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675888"/>
            <a:ext cx="411480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4F00"/>
                </a:solidFill>
              </a:rPr>
              <a:t>  No real-time data or forecasting support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411480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1696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4F00"/>
                </a:solidFill>
              </a:rPr>
              <a:t>  Isolated models  no hybrid approaches used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011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What We Are Doing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359152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359152"/>
            <a:ext cx="34747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3591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Multi-city AQI analysis across 10+ Indian cities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798064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862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ML model to classify pollution-based health risk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36976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236976"/>
            <a:ext cx="34747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23697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3300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Interactive Streamlit dashboard for visualization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675888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675888"/>
            <a:ext cx="34747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67588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3739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Future: real-time data + 7-day AQI forecasting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4114800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4114800"/>
            <a:ext cx="34747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1480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4178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Deep learning (LSTM, XGBoost) for better accuracy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0800000" flipV="1">
            <a:off x="87923" y="914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Proposed Methodology</a:t>
            </a:r>
            <a:endParaRPr lang="en-US" sz="2000" dirty="0"/>
          </a:p>
        </p:txBody>
      </p:sp>
      <p:pic>
        <p:nvPicPr>
          <p:cNvPr id="5" name="Image 0" descr="/home/claude/fig_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32918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94760" y="1078992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94760" y="1078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51960" y="108813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51960" y="12801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</a:rPr>
              <a:t>CPCB air quality , weather data, 28 Indian cities, 2022–2025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94760" y="1618488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476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51960" y="162763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51960" y="181965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</a:rPr>
              <a:t>Null removal, duplicate drop, datetime parsing, feature engineering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794760" y="2157984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2157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51960" y="21671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</a:rPr>
              <a:t>EDA &amp; Dashboard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51960" y="235915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</a:rPr>
              <a:t>Historical AQI trends, city comparisons, pollution visualizations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794760" y="2697480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9476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251960" y="270662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</a:rPr>
              <a:t>Feature Selection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51960" y="289864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</a:rPr>
              <a:t>Pollutants (PM2.5, PM10, NO2, SO2), weather, time &amp; special features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794760" y="3236976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9476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251960" y="324612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</a:rPr>
              <a:t>ML Model — Random Forest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251960" y="343814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</a:rPr>
              <a:t>Ensemble classifier trained to predict AQI health risk category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794760" y="3776472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9476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06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251960" y="378561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</a:rPr>
              <a:t>Health Risk Assessment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251960" y="397764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</a:rPr>
              <a:t>Predict risk level (Good / Moderate / Unhealthy / Hazardous)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794760" y="4315968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94760" y="4315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07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251960" y="43251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</a:rPr>
              <a:t>Future AQI Forecasting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251960" y="451713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</a:rPr>
              <a:t>Next 7-day AQI prediction using LSTM + real-time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7923" y="78779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Data Preprocessing &amp; Dataset Description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20116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Original Rows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</a:rPr>
              <a:t>842,160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6161"/>
                </a:solidFill>
              </a:rPr>
              <a:t>Before cleaning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78992"/>
            <a:ext cx="20116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78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After Null Drops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0592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</a:rPr>
              <a:t>842</a:t>
            </a:r>
            <a:r>
              <a:rPr lang="en-US" b="1" dirty="0">
                <a:solidFill>
                  <a:srgbClr val="F9A825"/>
                </a:solidFill>
              </a:rPr>
              <a:t>,</a:t>
            </a:r>
            <a:r>
              <a:rPr lang="en-US" sz="1800" b="1" dirty="0">
                <a:solidFill>
                  <a:srgbClr val="F9A825"/>
                </a:solidFill>
              </a:rPr>
              <a:t>015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50592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6161"/>
                </a:solidFill>
              </a:rPr>
              <a:t>AQI null rows removed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078992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78992"/>
            <a:ext cx="20116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78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Final Columns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26864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</a:rPr>
              <a:t>63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26864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6161"/>
                </a:solidFill>
              </a:rPr>
              <a:t>After dropping useless cols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03136" y="1078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1031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Dataset Feature Categories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468880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468880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254203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Location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55648" y="2542032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City, State, Latitude, Longitude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09160" y="2468880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468880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254203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Time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90488" y="2542032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Datetime, Year, Month, Day, Hour, Day_of_Week, Season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74320" y="2990088"/>
            <a:ext cx="4251960" cy="45720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990088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306324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Weather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55648" y="3063240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Temp_2m_C, Humidity_Percent, Dew_Point_C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709160" y="2990088"/>
            <a:ext cx="4251960" cy="45720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990088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306324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Wind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0488" y="3063240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Wind_Speed_10m_kmh, Wind_Dir_10m, Wind_Gusts_kmh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74320" y="3511296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511296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" y="3584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Rainfall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55648" y="3584448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Precipitation_mm, Rain_mm, Is_Raining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4709160" y="3511296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511296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358444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Atmosphere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90488" y="3584448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Pressure_MSL_hPa, Surface_Pressure_hPa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274320" y="4032504"/>
            <a:ext cx="4251960" cy="45720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032504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410565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Solar/Cloud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755648" y="4105656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Solar_Radiation_Wm2, Cloud_Cover_Percent, Sunshine_Seconds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709160" y="4032504"/>
            <a:ext cx="4251960" cy="45720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4032504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64024" y="410565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Pollution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190488" y="4105656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PM2.5, PM10, CO, NO2, SO2, O3, Dust, AOD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274320" y="4553712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4553712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" y="462686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AQI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755648" y="4626864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US_AQI, EU_AQI, AQI_Category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4709160" y="4553712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9160" y="4553712"/>
            <a:ext cx="14173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64024" y="462686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 Special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90488" y="4626864"/>
            <a:ext cx="2715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C1C1C"/>
                </a:solidFill>
              </a:rPr>
              <a:t>Temp_Inversion, Festival_Period, Crop_Burning_Season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" y="76317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Interactive Dashboard — Analysis &amp; Insights</a:t>
            </a:r>
            <a:endParaRPr lang="en-US" sz="2000" dirty="0"/>
          </a:p>
        </p:txBody>
      </p:sp>
      <p:pic>
        <p:nvPicPr>
          <p:cNvPr id="5" name="Image 0" descr="/home/claude/fig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2" y="668215"/>
            <a:ext cx="4297680" cy="34648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0560" y="1024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What the Dashboard Analyses: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80560" y="1371600"/>
            <a:ext cx="4389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80560" y="1371600"/>
            <a:ext cx="347472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9" name="Text 6"/>
          <p:cNvSpPr/>
          <p:nvPr/>
        </p:nvSpPr>
        <p:spPr>
          <a:xfrm>
            <a:off x="4480560" y="1371600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92040" y="1408176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India AQI Map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92040" y="161848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6161"/>
                </a:solidFill>
              </a:rPr>
              <a:t>Visualize city-wise pollution spread geographically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480560" y="1938528"/>
            <a:ext cx="438912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1938528"/>
            <a:ext cx="347472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14" name="Text 11"/>
          <p:cNvSpPr/>
          <p:nvPr/>
        </p:nvSpPr>
        <p:spPr>
          <a:xfrm>
            <a:off x="4480560" y="193852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2040" y="1975104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AQI Trend Over Time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92040" y="2185416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6161"/>
                </a:solidFill>
              </a:rPr>
              <a:t>Identify seasonal spikes Nov–Dec worst due to crop burning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480560" y="2505456"/>
            <a:ext cx="4389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0560" y="2505456"/>
            <a:ext cx="347472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19" name="Text 16"/>
          <p:cNvSpPr/>
          <p:nvPr/>
        </p:nvSpPr>
        <p:spPr>
          <a:xfrm>
            <a:off x="4480560" y="2505456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92040" y="2542032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Top Polluted Cities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92040" y="275234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6161"/>
                </a:solidFill>
              </a:rPr>
              <a:t>Rank cities — Delhi (154), Gurugram (153), Patna (146)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4480560" y="3072384"/>
            <a:ext cx="438912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80560" y="3072384"/>
            <a:ext cx="347472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r>
              <a:rPr lang="en-IN" dirty="0"/>
              <a:t>4</a:t>
            </a:r>
          </a:p>
        </p:txBody>
      </p:sp>
      <p:sp>
        <p:nvSpPr>
          <p:cNvPr id="24" name="Text 21"/>
          <p:cNvSpPr/>
          <p:nvPr/>
        </p:nvSpPr>
        <p:spPr>
          <a:xfrm>
            <a:off x="4480560" y="3072384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310896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Pollutant Level Analysis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319272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6161"/>
                </a:solidFill>
              </a:rPr>
              <a:t>Compare PM2.5, PM10, NO2, SO2 see which pollutant is highest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4480560" y="3639312"/>
            <a:ext cx="4389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80560" y="3639312"/>
            <a:ext cx="347472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r>
              <a:rPr lang="en-IN" dirty="0"/>
              <a:t>5</a:t>
            </a:r>
          </a:p>
        </p:txBody>
      </p:sp>
      <p:sp>
        <p:nvSpPr>
          <p:cNvPr id="29" name="Text 26"/>
          <p:cNvSpPr/>
          <p:nvPr/>
        </p:nvSpPr>
        <p:spPr>
          <a:xfrm>
            <a:off x="4480560" y="3639312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92040" y="3675888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AQI Category Distribution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92040" y="3886200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6161"/>
                </a:solidFill>
              </a:rPr>
              <a:t>See hours in Good / Moderate / Unhealthy / Hazardous buckets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4480560" y="4206240"/>
            <a:ext cx="438912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80560" y="4206240"/>
            <a:ext cx="347472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34" name="Text 31"/>
          <p:cNvSpPr/>
          <p:nvPr/>
        </p:nvSpPr>
        <p:spPr>
          <a:xfrm>
            <a:off x="4480560" y="4206240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92040" y="4242816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Health Risk Prediction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92040" y="445312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16161"/>
                </a:solidFill>
              </a:rPr>
              <a:t>Predict risk level from </a:t>
            </a:r>
            <a:r>
              <a:rPr lang="en-US" sz="880">
                <a:solidFill>
                  <a:srgbClr val="616161"/>
                </a:solidFill>
              </a:rPr>
              <a:t>AQI and </a:t>
            </a:r>
            <a:r>
              <a:rPr lang="en-US" sz="880" dirty="0">
                <a:solidFill>
                  <a:srgbClr val="616161"/>
                </a:solidFill>
              </a:rPr>
              <a:t>weather input using ML model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48097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  Key Finding:  PM10 highest avg concentration  •  Moderate AQI dominates  •  AQI peaks Nov–Dec  •  Delhi most polluted city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957" y="5943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Pollution Patterns &amp; City Rankings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Top Polluted Cities</a:t>
            </a:r>
            <a:endParaRPr lang="en-US" sz="1100" dirty="0"/>
          </a:p>
        </p:txBody>
      </p:sp>
      <p:pic>
        <p:nvPicPr>
          <p:cNvPr id="6" name="Image 0" descr="/home/claude/fig_top_c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420624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515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Pollutant Levels (PM2.5, PM10, NO2, SO2)</a:t>
            </a:r>
            <a:endParaRPr lang="en-US" sz="1100" dirty="0"/>
          </a:p>
        </p:txBody>
      </p:sp>
      <p:pic>
        <p:nvPicPr>
          <p:cNvPr id="8" name="Image 1" descr="/home/claude/fig_pollutant_lev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25880"/>
            <a:ext cx="4206240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31546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AQI Category Distribution</a:t>
            </a:r>
            <a:endParaRPr lang="en-US" sz="1100" dirty="0"/>
          </a:p>
        </p:txBody>
      </p:sp>
      <p:pic>
        <p:nvPicPr>
          <p:cNvPr id="10" name="Image 2" descr="/home/claude/fig_aqi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429000"/>
            <a:ext cx="4206240" cy="1508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31546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City Ranking Table</a:t>
            </a:r>
            <a:endParaRPr lang="en-US" sz="1100" dirty="0"/>
          </a:p>
        </p:txBody>
      </p:sp>
      <p:pic>
        <p:nvPicPr>
          <p:cNvPr id="12" name="Image 3" descr="/home/claude/fig_city_ran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429000"/>
            <a:ext cx="420624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" y="5943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Why Random Forest &amp; Model Results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508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Ensemble of 100+ decision trees  reduces overfitting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47672"/>
            <a:ext cx="420624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0391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Handles non-linear relationships between pollutants &amp; AQI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478024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569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Works well with mixed feature types (numeric + categorical)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08376"/>
            <a:ext cx="420624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0998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Fast training even on large datasets (842K rows)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3872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6301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Provides feature importance tells which pollutant matters most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069080"/>
            <a:ext cx="420624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41605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Robust to outliers and missing values in weather data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0515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Model Evaluation Metrics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196596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41732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76479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71.69%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417320"/>
            <a:ext cx="196596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41732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176479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71.30%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63440" y="251460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514600"/>
            <a:ext cx="196596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514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86207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71.69%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766560" y="251460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2514600"/>
            <a:ext cx="196596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514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F1 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286207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71.28%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0863" y="59436"/>
            <a:ext cx="84237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Health Risk Dashboard &amp; Future 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Current: Health Risk Prediction (from AQI + Weather)</a:t>
            </a:r>
            <a:endParaRPr lang="en-US" sz="1100" dirty="0"/>
          </a:p>
        </p:txBody>
      </p:sp>
      <p:pic>
        <p:nvPicPr>
          <p:cNvPr id="6" name="Image 0" descr="/home/claude/fig_health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484632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57800" y="10515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How It Helps: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57800" y="1371600"/>
            <a:ext cx="356616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6672" y="1426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Predicts: Good / Moderate / Unhealthy / Hazardous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57800" y="1828800"/>
            <a:ext cx="356616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76672" y="18836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Shows precautions: 'Avoid outdoor exposure'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57800" y="2286000"/>
            <a:ext cx="356616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76672" y="23408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Helps vulnerable groups : elderly, children, patients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57800" y="2743200"/>
            <a:ext cx="356616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76672" y="27980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  City-wise risk score displayed on dashboard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36576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657600"/>
            <a:ext cx="20116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68503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  Real-Time Data Integration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7472" y="3995928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Live CPCB API feeds → dashboard updates every hour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450592" y="36576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450592" y="3657600"/>
            <a:ext cx="20116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23744" y="368503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  7-Day AQI Forecasting (LSTM)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23744" y="3995928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Deep learning time-series model for next-week prediction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26864" y="36576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26864" y="3657600"/>
            <a:ext cx="20116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0016" y="368503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 XGBoost + Gradient Boosting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00016" y="3995928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Better accuracy, compare with Random Forest benchmark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803136" y="36576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803136" y="3657600"/>
            <a:ext cx="20116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76288" y="368503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  Mobile Health Alerts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76288" y="3995928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Push notifications when AQI crosses danger threshold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" y="5943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6324" y="686503"/>
            <a:ext cx="859536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06324" y="686503"/>
            <a:ext cx="6400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991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C1C1C"/>
                </a:solidFill>
              </a:rPr>
              <a:t>This project successfully demonstrates that Machine Learning — specifically Random Forest can analyze large-scale air quality data (842,015 records across 10+ Indian cities) and classify health risk levels with ~72% accuracy. The interactive Streamlit dashboard provides clear visualizations of AQI trends, pollutant levels, and health risks, making air quality data actionable for general users.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42062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5681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72% Accuracy Achieved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404164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Random Forest classifier trained on 842K records correctly classified AQI health risk levels — Good, Moderate, Unhealthy, Hazardous.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20240"/>
            <a:ext cx="42062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5681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Delhi Most Polluted (154.16)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404164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Multi-city analysis revealed Delhi, Gurugram &amp; Patna top polluters. AQI spikes in Nov–Dec driven by crop burning &amp; temperature inversions.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74720"/>
            <a:ext cx="42062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1129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Dashboard Built on Streamlit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404164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Interactive dashboard shows AQI map, trends, pollutant comparisons, health risk prediction &amp; city ranking in one place.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47472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474720"/>
            <a:ext cx="42062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51129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Strong Foundation for Future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840480"/>
            <a:ext cx="404164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Work completed establishes baseline for LSTM forecasting, real-time data integration, and extended health alert systems.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1093</Words>
  <Application>Microsoft Office PowerPoint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AI in Healthcare: Addressing Air Pollution Challenges</dc:title>
  <dc:subject>PptxGenJS Presentation</dc:subject>
  <dc:creator>PptxGenJS</dc:creator>
  <cp:lastModifiedBy>Priyanshi Mehta</cp:lastModifiedBy>
  <cp:revision>3</cp:revision>
  <dcterms:created xsi:type="dcterms:W3CDTF">2026-03-11T04:13:36Z</dcterms:created>
  <dcterms:modified xsi:type="dcterms:W3CDTF">2026-03-11T13:59:43Z</dcterms:modified>
</cp:coreProperties>
</file>